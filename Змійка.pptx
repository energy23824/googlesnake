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66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8288000" cy="10287000"/>
  <p:notesSz cx="6858000" cy="9144000"/>
  <p:embeddedFontLst>
    <p:embeddedFont>
      <p:font typeface="Noto Serif Display" panose="020B0604020202020204"/>
      <p:regular r:id="rId13"/>
    </p:embeddedFont>
    <p:embeddedFont>
      <p:font typeface="Roboto Bold" panose="020B0604020202020204" charset="0"/>
      <p:regular r:id="rId14"/>
    </p:embeddedFont>
    <p:embeddedFont>
      <p:font typeface="PT Serif Bold" panose="020B0604020202020204" charset="-52"/>
      <p:regular r:id="rId15"/>
    </p:embeddedFont>
    <p:embeddedFont>
      <p:font typeface="PT Serif" panose="020B0604020202020204" charset="-52"/>
      <p:regular r:id="rId16"/>
    </p:embeddedFont>
    <p:embeddedFont>
      <p:font typeface="Roboto" panose="020B0604020202020204" charset="0"/>
      <p:regular r:id="rId17"/>
    </p:embeddedFont>
    <p:embeddedFont>
      <p:font typeface="Calibri" panose="020F0502020204030204" pitchFamily="34" charset="0"/>
      <p:regular r:id="rId18"/>
      <p:bold r:id="rId19"/>
      <p:italic r:id="rId20"/>
      <p:boldItalic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5" d="100"/>
          <a:sy n="55" d="100"/>
        </p:scale>
        <p:origin x="658" y="4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5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28345" b="-28345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1304471" y="1028700"/>
            <a:ext cx="16230600" cy="8229600"/>
            <a:chOff x="0" y="0"/>
            <a:chExt cx="21640800" cy="10972800"/>
          </a:xfrm>
        </p:grpSpPr>
        <p:sp>
          <p:nvSpPr>
            <p:cNvPr id="5" name="Freeform 5">
              <a:extLs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/>
          </p:nvSpPr>
          <p:spPr>
            <a:xfrm>
              <a:off x="0" y="0"/>
              <a:ext cx="21640800" cy="10972800"/>
            </a:xfrm>
            <a:custGeom>
              <a:avLst/>
              <a:gdLst/>
              <a:ahLst/>
              <a:cxnLst/>
              <a:rect l="l" t="t" r="r" b="b"/>
              <a:pathLst>
                <a:path w="21640800" h="10972800">
                  <a:moveTo>
                    <a:pt x="0" y="0"/>
                  </a:moveTo>
                  <a:lnTo>
                    <a:pt x="21640800" y="0"/>
                  </a:lnTo>
                  <a:lnTo>
                    <a:pt x="21640800" y="10972800"/>
                  </a:lnTo>
                  <a:lnTo>
                    <a:pt x="0" y="10972800"/>
                  </a:lnTo>
                  <a:close/>
                </a:path>
              </a:pathLst>
            </a:custGeom>
            <a:solidFill>
              <a:srgbClr val="FFFFFF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id="6" name="Freeform 6"/>
          <p:cNvSpPr/>
          <p:nvPr/>
        </p:nvSpPr>
        <p:spPr>
          <a:xfrm>
            <a:off x="13258800" y="1044298"/>
            <a:ext cx="4300886" cy="3413402"/>
          </a:xfrm>
          <a:custGeom>
            <a:avLst/>
            <a:gdLst/>
            <a:ahLst/>
            <a:cxnLst/>
            <a:rect l="l" t="t" r="r" b="b"/>
            <a:pathLst>
              <a:path w="4300886" h="3413402">
                <a:moveTo>
                  <a:pt x="0" y="0"/>
                </a:moveTo>
                <a:lnTo>
                  <a:pt x="4300886" y="0"/>
                </a:lnTo>
                <a:lnTo>
                  <a:pt x="4300886" y="3413402"/>
                </a:lnTo>
                <a:lnTo>
                  <a:pt x="0" y="341340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1447800" y="1537057"/>
            <a:ext cx="9906000" cy="123563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271"/>
              </a:lnSpc>
            </a:pPr>
            <a:r>
              <a:rPr lang="en-US" sz="9272" b="1" dirty="0" err="1">
                <a:solidFill>
                  <a:srgbClr val="000000"/>
                </a:solidFill>
                <a:latin typeface="Roboto Bold"/>
                <a:ea typeface="Roboto Bold"/>
                <a:cs typeface="Roboto Bold"/>
                <a:sym typeface="Roboto Bold"/>
              </a:rPr>
              <a:t>Проект</a:t>
            </a:r>
            <a:r>
              <a:rPr lang="en-US" sz="9272" b="1" dirty="0">
                <a:solidFill>
                  <a:srgbClr val="000000"/>
                </a:solidFill>
                <a:latin typeface="Roboto Bold"/>
                <a:ea typeface="Roboto Bold"/>
                <a:cs typeface="Roboto Bold"/>
                <a:sym typeface="Roboto Bold"/>
              </a:rPr>
              <a:t> “</a:t>
            </a:r>
            <a:r>
              <a:rPr lang="en-US" sz="9272" b="1" dirty="0" err="1">
                <a:solidFill>
                  <a:srgbClr val="000000"/>
                </a:solidFill>
                <a:latin typeface="Roboto Bold"/>
                <a:ea typeface="Roboto Bold"/>
                <a:cs typeface="Roboto Bold"/>
                <a:sym typeface="Roboto Bold"/>
              </a:rPr>
              <a:t>Змійка</a:t>
            </a:r>
            <a:r>
              <a:rPr lang="en-US" sz="9272" b="1" dirty="0">
                <a:solidFill>
                  <a:srgbClr val="000000"/>
                </a:solidFill>
                <a:latin typeface="Roboto Bold"/>
                <a:ea typeface="Roboto Bold"/>
                <a:cs typeface="Roboto Bold"/>
                <a:sym typeface="Roboto Bold"/>
              </a:rPr>
              <a:t>”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746385" y="3360481"/>
            <a:ext cx="11374229" cy="27349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79"/>
              </a:lnSpc>
            </a:pPr>
            <a:r>
              <a:rPr lang="en-US" sz="5199" b="1">
                <a:solidFill>
                  <a:srgbClr val="000000"/>
                </a:solidFill>
                <a:latin typeface="PT Serif Bold"/>
                <a:ea typeface="PT Serif Bold"/>
                <a:cs typeface="PT Serif Bold"/>
                <a:sym typeface="PT Serif Bold"/>
              </a:rPr>
              <a:t>Вітаю, мене звати Безуглий Олексій я навчаюся у школі “Logika” на 2 році курсу Python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9" r="-39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196162" y="2229915"/>
            <a:ext cx="6942583" cy="7310402"/>
          </a:xfrm>
          <a:custGeom>
            <a:avLst/>
            <a:gdLst/>
            <a:ahLst/>
            <a:cxnLst/>
            <a:rect l="l" t="t" r="r" b="b"/>
            <a:pathLst>
              <a:path w="6942583" h="7310402">
                <a:moveTo>
                  <a:pt x="0" y="0"/>
                </a:moveTo>
                <a:lnTo>
                  <a:pt x="6942582" y="0"/>
                </a:lnTo>
                <a:lnTo>
                  <a:pt x="6942582" y="7310401"/>
                </a:lnTo>
                <a:lnTo>
                  <a:pt x="0" y="731040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0309791" y="2229915"/>
            <a:ext cx="6949509" cy="7310402"/>
          </a:xfrm>
          <a:custGeom>
            <a:avLst/>
            <a:gdLst/>
            <a:ahLst/>
            <a:cxnLst/>
            <a:rect l="l" t="t" r="r" b="b"/>
            <a:pathLst>
              <a:path w="6949509" h="7310402">
                <a:moveTo>
                  <a:pt x="0" y="0"/>
                </a:moveTo>
                <a:lnTo>
                  <a:pt x="6949509" y="0"/>
                </a:lnTo>
                <a:lnTo>
                  <a:pt x="6949509" y="7310401"/>
                </a:lnTo>
                <a:lnTo>
                  <a:pt x="0" y="731040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1917722" y="331470"/>
            <a:ext cx="14452555" cy="16611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400"/>
              </a:lnSpc>
            </a:pPr>
            <a:r>
              <a:rPr lang="en-US" sz="14400">
                <a:solidFill>
                  <a:srgbClr val="96C53D"/>
                </a:solidFill>
                <a:latin typeface="Roboto"/>
                <a:ea typeface="Roboto"/>
                <a:cs typeface="Roboto"/>
                <a:sym typeface="Roboto"/>
              </a:rPr>
              <a:t>З</a:t>
            </a:r>
            <a:r>
              <a:rPr lang="en-US" sz="14400">
                <a:solidFill>
                  <a:srgbClr val="487AF7"/>
                </a:solidFill>
                <a:latin typeface="Roboto"/>
                <a:ea typeface="Roboto"/>
                <a:cs typeface="Roboto"/>
                <a:sym typeface="Roboto"/>
              </a:rPr>
              <a:t>м</a:t>
            </a:r>
            <a:r>
              <a:rPr lang="en-US" sz="14400">
                <a:solidFill>
                  <a:srgbClr val="96C53D"/>
                </a:solidFill>
                <a:latin typeface="Roboto"/>
                <a:ea typeface="Roboto"/>
                <a:cs typeface="Roboto"/>
                <a:sym typeface="Roboto"/>
              </a:rPr>
              <a:t>і</a:t>
            </a:r>
            <a:r>
              <a:rPr lang="en-US" sz="14400">
                <a:solidFill>
                  <a:srgbClr val="487AF7"/>
                </a:solidFill>
                <a:latin typeface="Roboto"/>
                <a:ea typeface="Roboto"/>
                <a:cs typeface="Roboto"/>
                <a:sym typeface="Roboto"/>
              </a:rPr>
              <a:t>й</a:t>
            </a:r>
            <a:r>
              <a:rPr lang="en-US" sz="14400">
                <a:solidFill>
                  <a:srgbClr val="96C53D"/>
                </a:solidFill>
                <a:latin typeface="Roboto"/>
                <a:ea typeface="Roboto"/>
                <a:cs typeface="Roboto"/>
                <a:sym typeface="Roboto"/>
              </a:rPr>
              <a:t>к</a:t>
            </a:r>
            <a:r>
              <a:rPr lang="en-US" sz="14400">
                <a:solidFill>
                  <a:srgbClr val="487AF7"/>
                </a:solidFill>
                <a:latin typeface="Roboto"/>
                <a:ea typeface="Roboto"/>
                <a:cs typeface="Roboto"/>
                <a:sym typeface="Roboto"/>
              </a:rPr>
              <a:t>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609600" y="1104900"/>
            <a:ext cx="9144000" cy="8704947"/>
          </a:xfrm>
          <a:prstGeom prst="rect">
            <a:avLst/>
          </a:prstGeom>
        </p:spPr>
        <p:txBody>
          <a:bodyPr>
            <a:spAutoFit/>
          </a:bodyPr>
          <a:lstStyle/>
          <a:p>
            <a:endParaRPr lang="az-Cyrl-AZ" sz="3396" dirty="0" smtClean="0">
              <a:solidFill>
                <a:srgbClr val="000000"/>
              </a:solidFill>
              <a:latin typeface="PT Serif"/>
              <a:ea typeface="PT Serif"/>
              <a:cs typeface="PT Serif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az-Cyrl-AZ" sz="3396" dirty="0" smtClean="0">
                <a:solidFill>
                  <a:srgbClr val="000000"/>
                </a:solidFill>
                <a:latin typeface="PT Serif"/>
                <a:ea typeface="PT Serif"/>
                <a:cs typeface="PT Serif"/>
              </a:rPr>
              <a:t>  </a:t>
            </a:r>
            <a:r>
              <a:rPr lang="az-Cyrl-AZ" sz="3396" b="1" dirty="0" smtClean="0">
                <a:solidFill>
                  <a:srgbClr val="000000"/>
                </a:solidFill>
                <a:latin typeface="PT Serif"/>
                <a:ea typeface="PT Serif"/>
                <a:cs typeface="PT Serif"/>
              </a:rPr>
              <a:t>Закопування </a:t>
            </a:r>
            <a:r>
              <a:rPr lang="az-Cyrl-AZ" sz="3396" b="1" dirty="0">
                <a:solidFill>
                  <a:srgbClr val="000000"/>
                </a:solidFill>
                <a:latin typeface="PT Serif"/>
                <a:ea typeface="PT Serif"/>
                <a:cs typeface="PT Serif"/>
              </a:rPr>
              <a:t>під землю</a:t>
            </a:r>
            <a:r>
              <a:rPr lang="az-Cyrl-AZ" sz="3396" dirty="0">
                <a:solidFill>
                  <a:srgbClr val="000000"/>
                </a:solidFill>
                <a:latin typeface="PT Serif"/>
                <a:ea typeface="PT Serif"/>
                <a:cs typeface="PT Serif"/>
              </a:rPr>
              <a:t>: змійка може тимчасово зникати з поля, уникати перешкод та небезпек. </a:t>
            </a:r>
            <a:r>
              <a:rPr lang="az-Cyrl-AZ" sz="3396" dirty="0" smtClean="0">
                <a:solidFill>
                  <a:srgbClr val="000000"/>
                </a:solidFill>
                <a:latin typeface="PT Serif"/>
                <a:ea typeface="PT Serif"/>
                <a:cs typeface="PT Serif"/>
              </a:rPr>
              <a:t>Під </a:t>
            </a:r>
            <a:r>
              <a:rPr lang="az-Cyrl-AZ" sz="3396" dirty="0">
                <a:solidFill>
                  <a:srgbClr val="000000"/>
                </a:solidFill>
                <a:latin typeface="PT Serif"/>
                <a:ea typeface="PT Serif"/>
                <a:cs typeface="PT Serif"/>
              </a:rPr>
              <a:t>землею змійка рухається безконтактно з каменями </a:t>
            </a:r>
            <a:r>
              <a:rPr lang="az-Cyrl-AZ" sz="3396" dirty="0" smtClean="0">
                <a:solidFill>
                  <a:srgbClr val="000000"/>
                </a:solidFill>
                <a:latin typeface="PT Serif"/>
                <a:ea typeface="PT Serif"/>
                <a:cs typeface="PT Serif"/>
              </a:rPr>
              <a:t>але може зіштовхнутися з пальмами, а також </a:t>
            </a:r>
            <a:r>
              <a:rPr lang="az-Cyrl-AZ" sz="3396" dirty="0">
                <a:solidFill>
                  <a:srgbClr val="000000"/>
                </a:solidFill>
                <a:latin typeface="PT Serif"/>
                <a:ea typeface="PT Serif"/>
                <a:cs typeface="PT Serif"/>
              </a:rPr>
              <a:t>потрібно слідкувати за рівнем кисню</a:t>
            </a:r>
            <a:r>
              <a:rPr lang="az-Cyrl-AZ" sz="3396" dirty="0" smtClean="0">
                <a:solidFill>
                  <a:srgbClr val="000000"/>
                </a:solidFill>
                <a:latin typeface="PT Serif"/>
                <a:ea typeface="PT Serif"/>
                <a:cs typeface="PT Serif"/>
              </a:rPr>
              <a:t>.</a:t>
            </a:r>
          </a:p>
          <a:p>
            <a:pPr>
              <a:buFont typeface="Arial" panose="020B0604020202020204" pitchFamily="34" charset="0"/>
              <a:buChar char="•"/>
            </a:pPr>
            <a:endParaRPr lang="az-Cyrl-AZ" sz="3396" dirty="0">
              <a:solidFill>
                <a:srgbClr val="000000"/>
              </a:solidFill>
              <a:latin typeface="PT Serif"/>
              <a:ea typeface="PT Serif"/>
              <a:cs typeface="PT Serif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az-Cyrl-AZ" sz="3396" dirty="0" smtClean="0">
                <a:solidFill>
                  <a:srgbClr val="000000"/>
                </a:solidFill>
                <a:latin typeface="PT Serif"/>
                <a:ea typeface="PT Serif"/>
                <a:cs typeface="PT Serif"/>
              </a:rPr>
              <a:t>  </a:t>
            </a:r>
            <a:r>
              <a:rPr lang="az-Cyrl-AZ" sz="3396" b="1" dirty="0">
                <a:solidFill>
                  <a:srgbClr val="000000"/>
                </a:solidFill>
                <a:latin typeface="PT Serif"/>
                <a:ea typeface="PT Serif"/>
                <a:cs typeface="PT Serif"/>
              </a:rPr>
              <a:t>Кисень та індикатор</a:t>
            </a:r>
            <a:r>
              <a:rPr lang="az-Cyrl-AZ" sz="3396" dirty="0">
                <a:solidFill>
                  <a:srgbClr val="000000"/>
                </a:solidFill>
                <a:latin typeface="PT Serif"/>
                <a:ea typeface="PT Serif"/>
                <a:cs typeface="PT Serif"/>
              </a:rPr>
              <a:t>: під час занурення змійка споживає кисень, який поступово зменшується. </a:t>
            </a:r>
            <a:r>
              <a:rPr lang="az-Cyrl-AZ" sz="3396" b="1" dirty="0">
                <a:solidFill>
                  <a:srgbClr val="000000"/>
                </a:solidFill>
                <a:latin typeface="PT Serif"/>
                <a:ea typeface="PT Serif"/>
                <a:cs typeface="PT Serif"/>
              </a:rPr>
              <a:t>Якщо кисень закінчиться, ви програєте. </a:t>
            </a:r>
            <a:r>
              <a:rPr lang="az-Cyrl-AZ" sz="3396" dirty="0">
                <a:solidFill>
                  <a:srgbClr val="000000"/>
                </a:solidFill>
                <a:latin typeface="PT Serif"/>
                <a:ea typeface="PT Serif"/>
                <a:cs typeface="PT Serif"/>
              </a:rPr>
              <a:t>Потрібно правильно обирати момент занурення та підйому на поверхню, щоб уникнути смерті. Індикатор на екрані показує залишок кисню, що додає стратегічності.</a:t>
            </a:r>
          </a:p>
        </p:txBody>
      </p:sp>
      <p:sp>
        <p:nvSpPr>
          <p:cNvPr id="3" name="TextBox 4"/>
          <p:cNvSpPr txBox="1"/>
          <p:nvPr/>
        </p:nvSpPr>
        <p:spPr>
          <a:xfrm>
            <a:off x="914400" y="266700"/>
            <a:ext cx="13408303" cy="923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az-Cyrl-AZ" sz="6000" b="1" dirty="0">
                <a:solidFill>
                  <a:srgbClr val="000000"/>
                </a:solidFill>
                <a:latin typeface="PT Serif"/>
                <a:ea typeface="PT Serif"/>
                <a:cs typeface="PT Serif"/>
              </a:rPr>
              <a:t>Унікальні механіки гри: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84091" y="3547202"/>
            <a:ext cx="5163762" cy="920088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68074" y="2018640"/>
            <a:ext cx="5379777" cy="750242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12710287" y="4418719"/>
            <a:ext cx="2654629" cy="4408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37990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689239" y="-9073"/>
            <a:ext cx="5544039" cy="10296073"/>
            <a:chOff x="0" y="0"/>
            <a:chExt cx="7392052" cy="1372809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392035" cy="13728064"/>
            </a:xfrm>
            <a:custGeom>
              <a:avLst/>
              <a:gdLst/>
              <a:ahLst/>
              <a:cxnLst/>
              <a:rect l="l" t="t" r="r" b="b"/>
              <a:pathLst>
                <a:path w="7392035" h="13728064">
                  <a:moveTo>
                    <a:pt x="0" y="0"/>
                  </a:moveTo>
                  <a:lnTo>
                    <a:pt x="7392035" y="0"/>
                  </a:lnTo>
                  <a:lnTo>
                    <a:pt x="7392035" y="13728064"/>
                  </a:lnTo>
                  <a:lnTo>
                    <a:pt x="0" y="137280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sp>
        <p:nvSpPr>
          <p:cNvPr id="4" name="TextBox 4"/>
          <p:cNvSpPr txBox="1"/>
          <p:nvPr/>
        </p:nvSpPr>
        <p:spPr>
          <a:xfrm>
            <a:off x="307697" y="363622"/>
            <a:ext cx="13408303" cy="10299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627"/>
              </a:lnSpc>
            </a:pPr>
            <a:r>
              <a:rPr lang="en-US" sz="5866" spc="-58" dirty="0" err="1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Структура</a:t>
            </a:r>
            <a:r>
              <a:rPr lang="en-US" sz="5866" spc="-58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5866" spc="-58" dirty="0" err="1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мого</a:t>
            </a:r>
            <a:r>
              <a:rPr lang="en-US" sz="5866" spc="-58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5866" spc="-58" dirty="0" err="1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проекту</a:t>
            </a:r>
            <a:r>
              <a:rPr lang="en-US" sz="5866" spc="-58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“</a:t>
            </a:r>
            <a:r>
              <a:rPr lang="en-US" sz="5866" spc="-58" dirty="0" err="1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Змійка</a:t>
            </a:r>
            <a:r>
              <a:rPr lang="en-US" sz="5866" spc="-58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” 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90953" y="7060858"/>
            <a:ext cx="10144893" cy="1180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Також є папка assets, у якій розміщені підпапки: images (зображення) та sounds (звуки).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307697" y="1727754"/>
            <a:ext cx="11611381" cy="53997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5"/>
              </a:lnSpc>
            </a:pPr>
            <a:r>
              <a:rPr lang="en-US" sz="3396" dirty="0" err="1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Мій</a:t>
            </a:r>
            <a:r>
              <a:rPr lang="en-US" sz="3396" dirty="0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 </a:t>
            </a:r>
            <a:r>
              <a:rPr lang="en-US" sz="3396" dirty="0" err="1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проєкт</a:t>
            </a:r>
            <a:r>
              <a:rPr lang="en-US" sz="3396" dirty="0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 </a:t>
            </a:r>
            <a:r>
              <a:rPr lang="en-US" sz="3396" dirty="0" err="1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складається</a:t>
            </a:r>
            <a:r>
              <a:rPr lang="en-US" sz="3396" dirty="0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 з 6 </a:t>
            </a:r>
            <a:r>
              <a:rPr lang="en-US" sz="3396" dirty="0" err="1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основних</a:t>
            </a:r>
            <a:r>
              <a:rPr lang="en-US" sz="3396" dirty="0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 </a:t>
            </a:r>
            <a:r>
              <a:rPr lang="en-US" sz="3396" dirty="0" err="1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файлів</a:t>
            </a:r>
            <a:r>
              <a:rPr lang="en-US" sz="3396" dirty="0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:</a:t>
            </a:r>
          </a:p>
          <a:p>
            <a:pPr marL="733369" lvl="1" indent="-366685" algn="l">
              <a:lnSpc>
                <a:spcPts val="4755"/>
              </a:lnSpc>
              <a:buAutoNum type="arabicPeriod"/>
            </a:pPr>
            <a:r>
              <a:rPr lang="en-US" sz="3396" dirty="0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main.py — </a:t>
            </a:r>
            <a:r>
              <a:rPr lang="en-US" sz="3396" dirty="0" err="1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головний</a:t>
            </a:r>
            <a:r>
              <a:rPr lang="en-US" sz="3396" dirty="0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 </a:t>
            </a:r>
            <a:r>
              <a:rPr lang="en-US" sz="3396" dirty="0" err="1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файл</a:t>
            </a:r>
            <a:r>
              <a:rPr lang="en-US" sz="3396" dirty="0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, </a:t>
            </a:r>
            <a:r>
              <a:rPr lang="en-US" sz="3396" dirty="0" err="1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відповідає</a:t>
            </a:r>
            <a:r>
              <a:rPr lang="en-US" sz="3396" dirty="0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 </a:t>
            </a:r>
            <a:r>
              <a:rPr lang="en-US" sz="3396" dirty="0" err="1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за</a:t>
            </a:r>
            <a:r>
              <a:rPr lang="en-US" sz="3396" dirty="0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 </a:t>
            </a:r>
            <a:r>
              <a:rPr lang="en-US" sz="3396" dirty="0" err="1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основний</a:t>
            </a:r>
            <a:r>
              <a:rPr lang="en-US" sz="3396" dirty="0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 </a:t>
            </a:r>
            <a:r>
              <a:rPr lang="en-US" sz="3396" dirty="0" err="1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ігровий</a:t>
            </a:r>
            <a:r>
              <a:rPr lang="en-US" sz="3396" dirty="0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 </a:t>
            </a:r>
            <a:r>
              <a:rPr lang="en-US" sz="3396" dirty="0" err="1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цикл</a:t>
            </a:r>
            <a:r>
              <a:rPr lang="en-US" sz="3396" dirty="0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.</a:t>
            </a:r>
          </a:p>
          <a:p>
            <a:pPr marL="733369" lvl="1" indent="-366685" algn="l">
              <a:lnSpc>
                <a:spcPts val="4755"/>
              </a:lnSpc>
              <a:buAutoNum type="arabicPeriod"/>
            </a:pPr>
            <a:r>
              <a:rPr lang="en-US" sz="3396" dirty="0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food.py — </a:t>
            </a:r>
            <a:r>
              <a:rPr lang="en-US" sz="3396" dirty="0" err="1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відповідає</a:t>
            </a:r>
            <a:r>
              <a:rPr lang="en-US" sz="3396" dirty="0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 </a:t>
            </a:r>
            <a:r>
              <a:rPr lang="en-US" sz="3396" dirty="0" err="1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за</a:t>
            </a:r>
            <a:r>
              <a:rPr lang="en-US" sz="3396" dirty="0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 </a:t>
            </a:r>
            <a:r>
              <a:rPr lang="en-US" sz="3396" dirty="0" err="1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їжу</a:t>
            </a:r>
            <a:r>
              <a:rPr lang="en-US" sz="3396" dirty="0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 </a:t>
            </a:r>
            <a:r>
              <a:rPr lang="en-US" sz="3396" dirty="0" err="1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та</a:t>
            </a:r>
            <a:r>
              <a:rPr lang="en-US" sz="3396" dirty="0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 </a:t>
            </a:r>
            <a:r>
              <a:rPr lang="en-US" sz="3396" dirty="0" err="1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перешкоди</a:t>
            </a:r>
            <a:r>
              <a:rPr lang="en-US" sz="3396" dirty="0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.</a:t>
            </a:r>
          </a:p>
          <a:p>
            <a:pPr marL="733369" lvl="1" indent="-366685" algn="l">
              <a:lnSpc>
                <a:spcPts val="4755"/>
              </a:lnSpc>
              <a:buAutoNum type="arabicPeriod"/>
            </a:pPr>
            <a:r>
              <a:rPr lang="en-US" sz="3396" dirty="0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snake.py — </a:t>
            </a:r>
            <a:r>
              <a:rPr lang="en-US" sz="3396" dirty="0" err="1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відповідає</a:t>
            </a:r>
            <a:r>
              <a:rPr lang="en-US" sz="3396" dirty="0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 </a:t>
            </a:r>
            <a:r>
              <a:rPr lang="en-US" sz="3396" dirty="0" err="1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за</a:t>
            </a:r>
            <a:r>
              <a:rPr lang="en-US" sz="3396" dirty="0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 </a:t>
            </a:r>
            <a:r>
              <a:rPr lang="en-US" sz="3396" dirty="0" err="1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керування</a:t>
            </a:r>
            <a:r>
              <a:rPr lang="en-US" sz="3396" dirty="0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 </a:t>
            </a:r>
            <a:r>
              <a:rPr lang="en-US" sz="3396" dirty="0" err="1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змійкою</a:t>
            </a:r>
            <a:r>
              <a:rPr lang="en-US" sz="3396" dirty="0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.</a:t>
            </a:r>
          </a:p>
          <a:p>
            <a:pPr marL="733369" lvl="1" indent="-366685" algn="l">
              <a:lnSpc>
                <a:spcPts val="4755"/>
              </a:lnSpc>
              <a:buAutoNum type="arabicPeriod"/>
            </a:pPr>
            <a:r>
              <a:rPr lang="en-US" sz="3396" dirty="0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menu.py — </a:t>
            </a:r>
            <a:r>
              <a:rPr lang="en-US" sz="3396" dirty="0" err="1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відповідає</a:t>
            </a:r>
            <a:r>
              <a:rPr lang="en-US" sz="3396" dirty="0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 </a:t>
            </a:r>
            <a:r>
              <a:rPr lang="en-US" sz="3396" dirty="0" err="1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за</a:t>
            </a:r>
            <a:r>
              <a:rPr lang="en-US" sz="3396" dirty="0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 </a:t>
            </a:r>
            <a:r>
              <a:rPr lang="en-US" sz="3396" dirty="0" err="1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меню</a:t>
            </a:r>
            <a:r>
              <a:rPr lang="en-US" sz="3396" dirty="0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 </a:t>
            </a:r>
            <a:r>
              <a:rPr lang="en-US" sz="3396" dirty="0" err="1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гри</a:t>
            </a:r>
            <a:r>
              <a:rPr lang="en-US" sz="3396" dirty="0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.</a:t>
            </a:r>
          </a:p>
          <a:p>
            <a:pPr marL="733369" lvl="1" indent="-366685" algn="l">
              <a:lnSpc>
                <a:spcPts val="4755"/>
              </a:lnSpc>
              <a:buAutoNum type="arabicPeriod"/>
            </a:pPr>
            <a:r>
              <a:rPr lang="en-US" sz="3396" dirty="0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button.py — </a:t>
            </a:r>
            <a:r>
              <a:rPr lang="en-US" sz="3396" dirty="0" err="1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відповідає</a:t>
            </a:r>
            <a:r>
              <a:rPr lang="en-US" sz="3396" dirty="0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 </a:t>
            </a:r>
            <a:r>
              <a:rPr lang="en-US" sz="3396" dirty="0" err="1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за</a:t>
            </a:r>
            <a:r>
              <a:rPr lang="en-US" sz="3396" dirty="0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 </a:t>
            </a:r>
            <a:r>
              <a:rPr lang="en-US" sz="3396" dirty="0" err="1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кнопки</a:t>
            </a:r>
            <a:r>
              <a:rPr lang="en-US" sz="3396" dirty="0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 в </a:t>
            </a:r>
            <a:r>
              <a:rPr lang="en-US" sz="3396" dirty="0" err="1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меню</a:t>
            </a:r>
            <a:r>
              <a:rPr lang="en-US" sz="3396" dirty="0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.</a:t>
            </a:r>
          </a:p>
          <a:p>
            <a:pPr marL="733369" lvl="1" indent="-366685" algn="l">
              <a:lnSpc>
                <a:spcPts val="4755"/>
              </a:lnSpc>
              <a:buAutoNum type="arabicPeriod"/>
            </a:pPr>
            <a:r>
              <a:rPr lang="en-US" sz="3396" dirty="0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settings.py — </a:t>
            </a:r>
            <a:r>
              <a:rPr lang="en-US" sz="3396" dirty="0" err="1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містить</a:t>
            </a:r>
            <a:r>
              <a:rPr lang="en-US" sz="3396" dirty="0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 </a:t>
            </a:r>
            <a:r>
              <a:rPr lang="en-US" sz="3396" dirty="0" err="1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усі</a:t>
            </a:r>
            <a:r>
              <a:rPr lang="en-US" sz="3396" dirty="0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 </a:t>
            </a:r>
            <a:r>
              <a:rPr lang="en-US" sz="3396" dirty="0" err="1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налаштування</a:t>
            </a:r>
            <a:r>
              <a:rPr lang="en-US" sz="3396" dirty="0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 </a:t>
            </a:r>
            <a:r>
              <a:rPr lang="en-US" sz="3396" dirty="0" err="1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та</a:t>
            </a:r>
            <a:r>
              <a:rPr lang="en-US" sz="3396" dirty="0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 </a:t>
            </a:r>
            <a:r>
              <a:rPr lang="en-US" sz="3396" dirty="0" err="1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змінні</a:t>
            </a:r>
            <a:r>
              <a:rPr lang="en-US" sz="3396" dirty="0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 </a:t>
            </a:r>
            <a:r>
              <a:rPr lang="en-US" sz="3396" dirty="0" err="1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гри</a:t>
            </a:r>
            <a:r>
              <a:rPr lang="en-US" sz="3396" dirty="0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.</a:t>
            </a:r>
          </a:p>
          <a:p>
            <a:pPr algn="l">
              <a:lnSpc>
                <a:spcPts val="4755"/>
              </a:lnSpc>
            </a:pPr>
            <a:endParaRPr lang="en-US" sz="3396" dirty="0">
              <a:solidFill>
                <a:srgbClr val="000000"/>
              </a:solidFill>
              <a:latin typeface="PT Serif"/>
              <a:ea typeface="PT Serif"/>
              <a:cs typeface="PT Serif"/>
              <a:sym typeface="PT Serif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554083" y="5451460"/>
            <a:ext cx="7486267" cy="4835540"/>
          </a:xfrm>
          <a:custGeom>
            <a:avLst/>
            <a:gdLst/>
            <a:ahLst/>
            <a:cxnLst/>
            <a:rect l="l" t="t" r="r" b="b"/>
            <a:pathLst>
              <a:path w="7486267" h="4835540">
                <a:moveTo>
                  <a:pt x="0" y="0"/>
                </a:moveTo>
                <a:lnTo>
                  <a:pt x="7486267" y="0"/>
                </a:lnTo>
                <a:lnTo>
                  <a:pt x="7486267" y="4835540"/>
                </a:lnTo>
                <a:lnTo>
                  <a:pt x="0" y="483554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315" b="-315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0554083" y="0"/>
            <a:ext cx="7486267" cy="5451460"/>
          </a:xfrm>
          <a:custGeom>
            <a:avLst/>
            <a:gdLst/>
            <a:ahLst/>
            <a:cxnLst/>
            <a:rect l="l" t="t" r="r" b="b"/>
            <a:pathLst>
              <a:path w="7486267" h="5451460">
                <a:moveTo>
                  <a:pt x="0" y="0"/>
                </a:moveTo>
                <a:lnTo>
                  <a:pt x="7486267" y="0"/>
                </a:lnTo>
                <a:lnTo>
                  <a:pt x="7486267" y="5451460"/>
                </a:lnTo>
                <a:lnTo>
                  <a:pt x="0" y="545146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663013" y="303144"/>
            <a:ext cx="5585387" cy="9746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627"/>
              </a:lnSpc>
            </a:pPr>
            <a:r>
              <a:rPr lang="en-US" sz="5866" spc="-58" dirty="0" err="1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Файл</a:t>
            </a:r>
            <a:r>
              <a:rPr lang="en-US" sz="5866" spc="-58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main.py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63013" y="1305479"/>
            <a:ext cx="9532152" cy="8981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755"/>
              </a:lnSpc>
            </a:pPr>
            <a:r>
              <a:rPr lang="en-US" sz="3396" u="none" strike="noStrike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Головний файл гри.</a:t>
            </a:r>
          </a:p>
          <a:p>
            <a:pPr marL="0" lvl="0" indent="0" algn="l">
              <a:lnSpc>
                <a:spcPts val="4755"/>
              </a:lnSpc>
            </a:pPr>
            <a:r>
              <a:rPr lang="en-US" sz="3396" u="none" strike="noStrike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Що тут відбувається:</a:t>
            </a:r>
          </a:p>
          <a:p>
            <a:pPr marL="733370" lvl="1" indent="-366685" algn="l">
              <a:lnSpc>
                <a:spcPts val="4755"/>
              </a:lnSpc>
              <a:buFont typeface="Arial"/>
              <a:buChar char="•"/>
            </a:pPr>
            <a:r>
              <a:rPr lang="en-US" sz="3396" u="none" strike="noStrike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ініціалізація pygame і системи звуку</a:t>
            </a:r>
          </a:p>
          <a:p>
            <a:pPr marL="733370" lvl="1" indent="-366685" algn="l">
              <a:lnSpc>
                <a:spcPts val="4755"/>
              </a:lnSpc>
              <a:buFont typeface="Arial"/>
              <a:buChar char="•"/>
            </a:pPr>
            <a:r>
              <a:rPr lang="en-US" sz="3396" u="none" strike="noStrike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ввімкнення музики</a:t>
            </a:r>
          </a:p>
          <a:p>
            <a:pPr marL="733370" lvl="1" indent="-366685" algn="l">
              <a:lnSpc>
                <a:spcPts val="4755"/>
              </a:lnSpc>
              <a:buFont typeface="Arial"/>
              <a:buChar char="•"/>
            </a:pPr>
            <a:r>
              <a:rPr lang="en-US" sz="3396" u="none" strike="noStrike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створення об’єкта меню</a:t>
            </a:r>
          </a:p>
          <a:p>
            <a:pPr marL="733370" lvl="1" indent="-366685" algn="l">
              <a:lnSpc>
                <a:spcPts val="4755"/>
              </a:lnSpc>
              <a:buFont typeface="Arial"/>
              <a:buChar char="•"/>
            </a:pPr>
            <a:r>
              <a:rPr lang="en-US" sz="3396" u="none" strike="noStrike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головний цикл програми:</a:t>
            </a:r>
          </a:p>
          <a:p>
            <a:pPr marL="1466739" lvl="2" indent="-488913" algn="l">
              <a:lnSpc>
                <a:spcPts val="4755"/>
              </a:lnSpc>
              <a:buFont typeface="Arial"/>
              <a:buChar char="⚬"/>
            </a:pPr>
            <a:r>
              <a:rPr lang="en-US" sz="3396" u="none" strike="noStrike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перемикання між MENU та GAME</a:t>
            </a:r>
          </a:p>
          <a:p>
            <a:pPr marL="1466739" lvl="2" indent="-488913" algn="l">
              <a:lnSpc>
                <a:spcPts val="4755"/>
              </a:lnSpc>
              <a:buFont typeface="Arial"/>
              <a:buChar char="⚬"/>
            </a:pPr>
            <a:r>
              <a:rPr lang="en-US" sz="3396" u="none" strike="noStrike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обробка подій клавіатури й миші</a:t>
            </a:r>
          </a:p>
          <a:p>
            <a:pPr marL="1466739" lvl="2" indent="-488913" algn="l">
              <a:lnSpc>
                <a:spcPts val="4755"/>
              </a:lnSpc>
              <a:buFont typeface="Arial"/>
              <a:buChar char="⚬"/>
            </a:pPr>
            <a:r>
              <a:rPr lang="en-US" sz="3396" u="none" strike="noStrike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створення нового об’єкта Snake після натискання «Грати»</a:t>
            </a:r>
          </a:p>
          <a:p>
            <a:pPr marL="1466739" lvl="2" indent="-488913" algn="l">
              <a:lnSpc>
                <a:spcPts val="4755"/>
              </a:lnSpc>
              <a:buFont typeface="Arial"/>
              <a:buChar char="⚬"/>
            </a:pPr>
            <a:r>
              <a:rPr lang="en-US" sz="3396" u="none" strike="noStrike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відображення меню або гри</a:t>
            </a:r>
          </a:p>
          <a:p>
            <a:pPr marL="1466739" lvl="2" indent="-488913" algn="l">
              <a:lnSpc>
                <a:spcPts val="4755"/>
              </a:lnSpc>
              <a:buFont typeface="Arial"/>
              <a:buChar char="⚬"/>
            </a:pPr>
            <a:r>
              <a:rPr lang="en-US" sz="3396" u="none" strike="noStrike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керування FPS</a:t>
            </a:r>
          </a:p>
          <a:p>
            <a:pPr marL="1466739" lvl="2" indent="-488913" algn="l">
              <a:lnSpc>
                <a:spcPts val="4755"/>
              </a:lnSpc>
              <a:buFont typeface="Arial"/>
              <a:buChar char="⚬"/>
            </a:pPr>
            <a:r>
              <a:rPr lang="en-US" sz="3396" u="none" strike="noStrike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обробка Game Over: очікування, малювання екрану смерті</a:t>
            </a:r>
          </a:p>
          <a:p>
            <a:pPr algn="l">
              <a:lnSpc>
                <a:spcPts val="4755"/>
              </a:lnSpc>
            </a:pPr>
            <a:endParaRPr lang="en-US" sz="3396" u="none" strike="noStrike">
              <a:solidFill>
                <a:srgbClr val="000000"/>
              </a:solidFill>
              <a:latin typeface="PT Serif"/>
              <a:ea typeface="PT Serif"/>
              <a:cs typeface="PT Serif"/>
              <a:sym typeface="PT Serif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5045101"/>
            <a:ext cx="8443461" cy="5241899"/>
          </a:xfrm>
          <a:custGeom>
            <a:avLst/>
            <a:gdLst/>
            <a:ahLst/>
            <a:cxnLst/>
            <a:rect l="l" t="t" r="r" b="b"/>
            <a:pathLst>
              <a:path w="8610923" h="5241899">
                <a:moveTo>
                  <a:pt x="0" y="0"/>
                </a:moveTo>
                <a:lnTo>
                  <a:pt x="8610923" y="0"/>
                </a:lnTo>
                <a:lnTo>
                  <a:pt x="8610923" y="5241899"/>
                </a:lnTo>
                <a:lnTo>
                  <a:pt x="0" y="52418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0" y="0"/>
            <a:ext cx="8443461" cy="5045101"/>
          </a:xfrm>
          <a:custGeom>
            <a:avLst/>
            <a:gdLst/>
            <a:ahLst/>
            <a:cxnLst/>
            <a:rect l="l" t="t" r="r" b="b"/>
            <a:pathLst>
              <a:path w="8443461" h="5045101">
                <a:moveTo>
                  <a:pt x="0" y="0"/>
                </a:moveTo>
                <a:lnTo>
                  <a:pt x="8443461" y="0"/>
                </a:lnTo>
                <a:lnTo>
                  <a:pt x="8443461" y="5045101"/>
                </a:lnTo>
                <a:lnTo>
                  <a:pt x="0" y="504510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r="-2139"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9144000" y="68565"/>
            <a:ext cx="6781800" cy="9746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627"/>
              </a:lnSpc>
            </a:pPr>
            <a:r>
              <a:rPr lang="en-US" sz="5866" spc="-58" dirty="0" err="1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Файл</a:t>
            </a:r>
            <a:r>
              <a:rPr lang="en-US" sz="5866" spc="-58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snake.py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634846" y="1146309"/>
            <a:ext cx="9508229" cy="83814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5"/>
              </a:lnSpc>
              <a:spcBef>
                <a:spcPct val="0"/>
              </a:spcBef>
            </a:pPr>
            <a:r>
              <a:rPr lang="en-US" sz="3396" u="none" strike="noStrike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Найскладніший файл. Тут реалізовано повний функціонал самої змійки, включно з рухом, малюванням, ефектами, колізіями та смертю.</a:t>
            </a:r>
          </a:p>
          <a:p>
            <a:pPr algn="l">
              <a:lnSpc>
                <a:spcPts val="4755"/>
              </a:lnSpc>
              <a:spcBef>
                <a:spcPct val="0"/>
              </a:spcBef>
            </a:pPr>
            <a:r>
              <a:rPr lang="en-US" sz="3396" u="none" strike="noStrike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     Що містить:</a:t>
            </a:r>
          </a:p>
          <a:p>
            <a:pPr marL="1466739" lvl="1" indent="-733370" algn="l">
              <a:lnSpc>
                <a:spcPts val="4755"/>
              </a:lnSpc>
              <a:spcBef>
                <a:spcPct val="0"/>
              </a:spcBef>
              <a:buFont typeface="Arial"/>
              <a:buChar char="⚬"/>
            </a:pPr>
            <a:r>
              <a:rPr lang="en-US" sz="3396" u="none" strike="noStrike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Основні змінні:</a:t>
            </a:r>
          </a:p>
          <a:p>
            <a:pPr marL="1466739" lvl="1" indent="-733370" algn="l">
              <a:lnSpc>
                <a:spcPts val="4755"/>
              </a:lnSpc>
              <a:spcBef>
                <a:spcPct val="0"/>
              </a:spcBef>
              <a:buFont typeface="Arial"/>
              <a:buChar char="⚬"/>
            </a:pPr>
            <a:r>
              <a:rPr lang="en-US" sz="3396" u="none" strike="noStrike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координати тіла змійки</a:t>
            </a:r>
          </a:p>
          <a:p>
            <a:pPr marL="1466739" lvl="1" indent="-733370" algn="l">
              <a:lnSpc>
                <a:spcPts val="4755"/>
              </a:lnSpc>
              <a:spcBef>
                <a:spcPct val="0"/>
              </a:spcBef>
              <a:buFont typeface="Arial"/>
              <a:buChar char="⚬"/>
            </a:pPr>
            <a:r>
              <a:rPr lang="en-US" sz="3396" u="none" strike="noStrike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напрям руху</a:t>
            </a:r>
          </a:p>
          <a:p>
            <a:pPr marL="1466739" lvl="1" indent="-733370" algn="l">
              <a:lnSpc>
                <a:spcPts val="4755"/>
              </a:lnSpc>
              <a:spcBef>
                <a:spcPct val="0"/>
              </a:spcBef>
              <a:buFont typeface="Arial"/>
              <a:buChar char="⚬"/>
            </a:pPr>
            <a:r>
              <a:rPr lang="en-US" sz="3396" u="none" strike="noStrike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рахунок</a:t>
            </a:r>
          </a:p>
          <a:p>
            <a:pPr marL="1466739" lvl="1" indent="-733370" algn="l">
              <a:lnSpc>
                <a:spcPts val="4755"/>
              </a:lnSpc>
              <a:spcBef>
                <a:spcPct val="0"/>
              </a:spcBef>
              <a:buFont typeface="Arial"/>
              <a:buChar char="⚬"/>
            </a:pPr>
            <a:r>
              <a:rPr lang="en-US" sz="3396" u="none" strike="noStrike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стан занурення</a:t>
            </a:r>
          </a:p>
          <a:p>
            <a:pPr marL="1466739" lvl="1" indent="-733370" algn="l">
              <a:lnSpc>
                <a:spcPts val="4755"/>
              </a:lnSpc>
              <a:spcBef>
                <a:spcPct val="0"/>
              </a:spcBef>
              <a:buFont typeface="Arial"/>
              <a:buChar char="⚬"/>
            </a:pPr>
            <a:r>
              <a:rPr lang="en-US" sz="3396" u="none" strike="noStrike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таймер кисню</a:t>
            </a:r>
          </a:p>
          <a:p>
            <a:pPr marL="1466739" lvl="1" indent="-733370" algn="l">
              <a:lnSpc>
                <a:spcPts val="4755"/>
              </a:lnSpc>
              <a:spcBef>
                <a:spcPct val="0"/>
              </a:spcBef>
              <a:buFont typeface="Arial"/>
              <a:buChar char="⚬"/>
            </a:pPr>
            <a:r>
              <a:rPr lang="en-US" sz="3396" u="none" strike="noStrike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спрайти голови, хвоста, поворотів, яблук/бананів, каменів та пальм</a:t>
            </a:r>
          </a:p>
          <a:p>
            <a:pPr marL="1466739" lvl="1" indent="-733370" algn="l">
              <a:lnSpc>
                <a:spcPts val="4755"/>
              </a:lnSpc>
              <a:spcBef>
                <a:spcPct val="0"/>
              </a:spcBef>
              <a:buFont typeface="Arial"/>
              <a:buChar char="⚬"/>
            </a:pPr>
            <a:r>
              <a:rPr lang="en-US" sz="3396" u="none" strike="noStrike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звуки (поїдання, смерть)</a:t>
            </a:r>
          </a:p>
          <a:p>
            <a:pPr marL="1466739" lvl="1" indent="-733370" algn="l">
              <a:lnSpc>
                <a:spcPts val="4755"/>
              </a:lnSpc>
              <a:spcBef>
                <a:spcPct val="0"/>
              </a:spcBef>
              <a:buFont typeface="Arial"/>
              <a:buChar char="⚬"/>
            </a:pPr>
            <a:r>
              <a:rPr lang="en-US" sz="3396" u="none" strike="noStrike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об’єкти Food / Rocks / Palms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4718534"/>
            <a:ext cx="8786534" cy="5568466"/>
          </a:xfrm>
          <a:custGeom>
            <a:avLst/>
            <a:gdLst/>
            <a:ahLst/>
            <a:cxnLst/>
            <a:rect l="l" t="t" r="r" b="b"/>
            <a:pathLst>
              <a:path w="8786534" h="5568466">
                <a:moveTo>
                  <a:pt x="0" y="0"/>
                </a:moveTo>
                <a:lnTo>
                  <a:pt x="8786534" y="0"/>
                </a:lnTo>
                <a:lnTo>
                  <a:pt x="8786534" y="5568466"/>
                </a:lnTo>
                <a:lnTo>
                  <a:pt x="0" y="55684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0" y="0"/>
            <a:ext cx="8786534" cy="4733745"/>
          </a:xfrm>
          <a:custGeom>
            <a:avLst/>
            <a:gdLst/>
            <a:ahLst/>
            <a:cxnLst/>
            <a:rect l="l" t="t" r="r" b="b"/>
            <a:pathLst>
              <a:path w="8786534" h="4733745">
                <a:moveTo>
                  <a:pt x="0" y="0"/>
                </a:moveTo>
                <a:lnTo>
                  <a:pt x="8786534" y="0"/>
                </a:lnTo>
                <a:lnTo>
                  <a:pt x="8786534" y="4733745"/>
                </a:lnTo>
                <a:lnTo>
                  <a:pt x="0" y="473374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9144000" y="68565"/>
            <a:ext cx="5105400" cy="9746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627"/>
              </a:lnSpc>
            </a:pPr>
            <a:r>
              <a:rPr lang="en-US" sz="5866" spc="-58" dirty="0" err="1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Файл</a:t>
            </a:r>
            <a:r>
              <a:rPr lang="en-US" sz="5866" spc="-58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food.py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072231" y="962025"/>
            <a:ext cx="9215769" cy="8981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5"/>
              </a:lnSpc>
              <a:spcBef>
                <a:spcPct val="0"/>
              </a:spcBef>
            </a:pPr>
            <a:r>
              <a:rPr lang="en-US" sz="3396" u="none" strike="noStrike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Відповідає за генерацію яблук, бананів,                            каменів і пальм, що з’являються на карті. </a:t>
            </a:r>
          </a:p>
          <a:p>
            <a:pPr algn="l">
              <a:lnSpc>
                <a:spcPts val="4755"/>
              </a:lnSpc>
              <a:spcBef>
                <a:spcPct val="0"/>
              </a:spcBef>
            </a:pPr>
            <a:r>
              <a:rPr lang="en-US" sz="3396" u="none" strike="noStrike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     Основні елементи:</a:t>
            </a:r>
          </a:p>
          <a:p>
            <a:pPr marL="1466739" lvl="1" indent="-733370" algn="l">
              <a:lnSpc>
                <a:spcPts val="4755"/>
              </a:lnSpc>
              <a:spcBef>
                <a:spcPct val="0"/>
              </a:spcBef>
              <a:buFont typeface="Arial"/>
              <a:buChar char="⚬"/>
            </a:pPr>
            <a:r>
              <a:rPr lang="en-US" sz="3396" u="none" strike="noStrike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Food</a:t>
            </a:r>
          </a:p>
          <a:p>
            <a:pPr marL="1466739" lvl="1" indent="-733370" algn="l">
              <a:lnSpc>
                <a:spcPts val="4755"/>
              </a:lnSpc>
              <a:spcBef>
                <a:spcPct val="0"/>
              </a:spcBef>
              <a:buFont typeface="Arial"/>
              <a:buChar char="⚬"/>
            </a:pPr>
            <a:r>
              <a:rPr lang="en-US" sz="3396" u="none" strike="noStrike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тип їжі (apple, banana)</a:t>
            </a:r>
          </a:p>
          <a:p>
            <a:pPr marL="1466739" lvl="1" indent="-733370" algn="l">
              <a:lnSpc>
                <a:spcPts val="4755"/>
              </a:lnSpc>
              <a:spcBef>
                <a:spcPct val="0"/>
              </a:spcBef>
              <a:buFont typeface="Arial"/>
              <a:buChar char="⚬"/>
            </a:pPr>
            <a:r>
              <a:rPr lang="en-US" sz="3396" u="none" strike="noStrike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випадкове розміщення у вільній клітині</a:t>
            </a:r>
          </a:p>
          <a:p>
            <a:pPr marL="1466739" lvl="1" indent="-733370" algn="l">
              <a:lnSpc>
                <a:spcPts val="4755"/>
              </a:lnSpc>
              <a:spcBef>
                <a:spcPct val="0"/>
              </a:spcBef>
              <a:buFont typeface="Arial"/>
              <a:buChar char="⚬"/>
            </a:pPr>
            <a:r>
              <a:rPr lang="en-US" sz="3396" u="none" strike="noStrike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уникнення змійки та перешкод</a:t>
            </a:r>
          </a:p>
          <a:p>
            <a:pPr marL="1466739" lvl="1" indent="-733370" algn="l">
              <a:lnSpc>
                <a:spcPts val="4755"/>
              </a:lnSpc>
              <a:spcBef>
                <a:spcPct val="0"/>
              </a:spcBef>
              <a:buFont typeface="Arial"/>
              <a:buChar char="⚬"/>
            </a:pPr>
            <a:r>
              <a:rPr lang="en-US" sz="3396" u="none" strike="noStrike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Rocks</a:t>
            </a:r>
          </a:p>
          <a:p>
            <a:pPr marL="1466739" lvl="1" indent="-733370" algn="l">
              <a:lnSpc>
                <a:spcPts val="4755"/>
              </a:lnSpc>
              <a:spcBef>
                <a:spcPct val="0"/>
              </a:spcBef>
              <a:buFont typeface="Arial"/>
              <a:buChar char="⚬"/>
            </a:pPr>
            <a:r>
              <a:rPr lang="en-US" sz="3396" u="none" strike="noStrike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зберігає кількість каменів</a:t>
            </a:r>
          </a:p>
          <a:p>
            <a:pPr marL="1466739" lvl="1" indent="-733370" algn="l">
              <a:lnSpc>
                <a:spcPts val="4755"/>
              </a:lnSpc>
              <a:spcBef>
                <a:spcPct val="0"/>
              </a:spcBef>
              <a:buFont typeface="Arial"/>
              <a:buChar char="⚬"/>
            </a:pPr>
            <a:r>
              <a:rPr lang="en-US" sz="3396" u="none" strike="noStrike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випадкова генерація розташувань</a:t>
            </a:r>
          </a:p>
          <a:p>
            <a:pPr marL="1466739" lvl="1" indent="-733370" algn="l">
              <a:lnSpc>
                <a:spcPts val="4755"/>
              </a:lnSpc>
              <a:spcBef>
                <a:spcPct val="0"/>
              </a:spcBef>
              <a:buFont typeface="Arial"/>
              <a:buChar char="⚬"/>
            </a:pPr>
            <a:r>
              <a:rPr lang="en-US" sz="3396" u="none" strike="noStrike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уникає тіла змійки </a:t>
            </a:r>
          </a:p>
          <a:p>
            <a:pPr marL="1466739" lvl="1" indent="-733370" algn="l">
              <a:lnSpc>
                <a:spcPts val="4755"/>
              </a:lnSpc>
              <a:spcBef>
                <a:spcPct val="0"/>
              </a:spcBef>
              <a:buFont typeface="Arial"/>
              <a:buChar char="⚬"/>
            </a:pPr>
            <a:r>
              <a:rPr lang="en-US" sz="3396" u="none" strike="noStrike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Palms</a:t>
            </a:r>
          </a:p>
          <a:p>
            <a:pPr marL="1466739" lvl="1" indent="-733370" algn="l">
              <a:lnSpc>
                <a:spcPts val="4755"/>
              </a:lnSpc>
              <a:spcBef>
                <a:spcPct val="0"/>
              </a:spcBef>
              <a:buFont typeface="Arial"/>
              <a:buChar char="⚬"/>
            </a:pPr>
            <a:r>
              <a:rPr lang="en-US" sz="3396" u="none" strike="noStrike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аналогічні каменям, але не повинні перетинатися з ними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8320437" y="1464874"/>
            <a:ext cx="9809670" cy="7357253"/>
          </a:xfrm>
          <a:custGeom>
            <a:avLst/>
            <a:gdLst/>
            <a:ahLst/>
            <a:cxnLst/>
            <a:rect l="l" t="t" r="r" b="b"/>
            <a:pathLst>
              <a:path w="9809670" h="7357253">
                <a:moveTo>
                  <a:pt x="0" y="0"/>
                </a:moveTo>
                <a:lnTo>
                  <a:pt x="9809671" y="0"/>
                </a:lnTo>
                <a:lnTo>
                  <a:pt x="9809671" y="7357252"/>
                </a:lnTo>
                <a:lnTo>
                  <a:pt x="0" y="735725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028700" y="68565"/>
            <a:ext cx="5524500" cy="9746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627"/>
              </a:lnSpc>
            </a:pPr>
            <a:r>
              <a:rPr lang="en-US" sz="5866" spc="-58" dirty="0" err="1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Файл</a:t>
            </a:r>
            <a:r>
              <a:rPr lang="en-US" sz="5866" spc="-58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menu.py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63154" y="962025"/>
            <a:ext cx="8320437" cy="8981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5"/>
              </a:lnSpc>
              <a:spcBef>
                <a:spcPct val="0"/>
              </a:spcBef>
            </a:pPr>
            <a:r>
              <a:rPr lang="en-US" sz="3396" u="none" strike="noStrike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Файл відповідає за усю навігацію до початку гри: старт, опції, вихід, вибір складності, звук, музика.</a:t>
            </a:r>
          </a:p>
          <a:p>
            <a:pPr algn="l">
              <a:lnSpc>
                <a:spcPts val="4755"/>
              </a:lnSpc>
              <a:spcBef>
                <a:spcPct val="0"/>
              </a:spcBef>
            </a:pPr>
            <a:r>
              <a:rPr lang="en-US" sz="3396" u="none" strike="noStrike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     Основні елементи:</a:t>
            </a:r>
          </a:p>
          <a:p>
            <a:pPr algn="l">
              <a:lnSpc>
                <a:spcPts val="4755"/>
              </a:lnSpc>
              <a:spcBef>
                <a:spcPct val="0"/>
              </a:spcBef>
            </a:pPr>
            <a:r>
              <a:rPr lang="en-US" sz="3396" u="none" strike="noStrike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         Menu:</a:t>
            </a:r>
          </a:p>
          <a:p>
            <a:pPr marL="1466739" lvl="1" indent="-733370" algn="l">
              <a:lnSpc>
                <a:spcPts val="4755"/>
              </a:lnSpc>
              <a:spcBef>
                <a:spcPct val="0"/>
              </a:spcBef>
              <a:buFont typeface="Arial"/>
              <a:buChar char="⚬"/>
            </a:pPr>
            <a:r>
              <a:rPr lang="en-US" sz="3396" u="none" strike="noStrike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має стан (MAIN або SETTINGS)</a:t>
            </a:r>
          </a:p>
          <a:p>
            <a:pPr marL="1466739" lvl="1" indent="-733370" algn="l">
              <a:lnSpc>
                <a:spcPts val="4755"/>
              </a:lnSpc>
              <a:spcBef>
                <a:spcPct val="0"/>
              </a:spcBef>
              <a:buFont typeface="Arial"/>
              <a:buChar char="⚬"/>
            </a:pPr>
            <a:r>
              <a:rPr lang="en-US" sz="3396" u="none" strike="noStrike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зберігає вибрану складність</a:t>
            </a:r>
          </a:p>
          <a:p>
            <a:pPr marL="1466739" lvl="1" indent="-733370" algn="l">
              <a:lnSpc>
                <a:spcPts val="4755"/>
              </a:lnSpc>
              <a:spcBef>
                <a:spcPct val="0"/>
              </a:spcBef>
              <a:buFont typeface="Arial"/>
              <a:buChar char="⚬"/>
            </a:pPr>
            <a:r>
              <a:rPr lang="en-US" sz="3396" u="none" strike="noStrike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зберігає стани звуку й музики</a:t>
            </a:r>
          </a:p>
          <a:p>
            <a:pPr marL="1466739" lvl="1" indent="-733370" algn="l">
              <a:lnSpc>
                <a:spcPts val="4755"/>
              </a:lnSpc>
              <a:spcBef>
                <a:spcPct val="0"/>
              </a:spcBef>
              <a:buFont typeface="Arial"/>
              <a:buChar char="⚬"/>
            </a:pPr>
            <a:r>
              <a:rPr lang="en-US" sz="3396" u="none" strike="noStrike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завантажує фонову картинку меню</a:t>
            </a:r>
          </a:p>
          <a:p>
            <a:pPr algn="l">
              <a:lnSpc>
                <a:spcPts val="4755"/>
              </a:lnSpc>
              <a:spcBef>
                <a:spcPct val="0"/>
              </a:spcBef>
            </a:pPr>
            <a:r>
              <a:rPr lang="en-US" sz="3396" u="none" strike="noStrike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         Списки кнопок:</a:t>
            </a:r>
          </a:p>
          <a:p>
            <a:pPr marL="1466739" lvl="1" indent="-733370" algn="l">
              <a:lnSpc>
                <a:spcPts val="4755"/>
              </a:lnSpc>
              <a:spcBef>
                <a:spcPct val="0"/>
              </a:spcBef>
              <a:buFont typeface="Arial"/>
              <a:buChar char="⚬"/>
            </a:pPr>
            <a:r>
              <a:rPr lang="en-US" sz="3396" u="none" strike="noStrike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головного меню (Грати, Налаштування, Вийти)</a:t>
            </a:r>
          </a:p>
          <a:p>
            <a:pPr marL="1466739" lvl="1" indent="-733370" algn="l">
              <a:lnSpc>
                <a:spcPts val="4755"/>
              </a:lnSpc>
              <a:spcBef>
                <a:spcPct val="0"/>
              </a:spcBef>
              <a:buFont typeface="Arial"/>
              <a:buChar char="⚬"/>
            </a:pPr>
            <a:r>
              <a:rPr lang="en-US" sz="3396" u="none" strike="noStrike">
                <a:solidFill>
                  <a:srgbClr val="000000"/>
                </a:solidFill>
                <a:latin typeface="PT Serif"/>
                <a:ea typeface="PT Serif"/>
                <a:cs typeface="PT Serif"/>
                <a:sym typeface="PT Serif"/>
              </a:rPr>
              <a:t>меню налаштувань (Складність, Звук, Музика, Назад)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667466" y="5821054"/>
            <a:ext cx="7284709" cy="3985525"/>
          </a:xfrm>
          <a:custGeom>
            <a:avLst/>
            <a:gdLst/>
            <a:ahLst/>
            <a:cxnLst/>
            <a:rect l="l" t="t" r="r" b="b"/>
            <a:pathLst>
              <a:path w="7284709" h="3985525">
                <a:moveTo>
                  <a:pt x="0" y="0"/>
                </a:moveTo>
                <a:lnTo>
                  <a:pt x="7284709" y="0"/>
                </a:lnTo>
                <a:lnTo>
                  <a:pt x="7284709" y="3985525"/>
                </a:lnTo>
                <a:lnTo>
                  <a:pt x="0" y="39855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413" r="-413" b="-46219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0657941" y="581970"/>
            <a:ext cx="7284709" cy="5415352"/>
          </a:xfrm>
          <a:custGeom>
            <a:avLst/>
            <a:gdLst/>
            <a:ahLst/>
            <a:cxnLst/>
            <a:rect l="l" t="t" r="r" b="b"/>
            <a:pathLst>
              <a:path w="7284709" h="5415352">
                <a:moveTo>
                  <a:pt x="0" y="0"/>
                </a:moveTo>
                <a:lnTo>
                  <a:pt x="7284709" y="0"/>
                </a:lnTo>
                <a:lnTo>
                  <a:pt x="7284709" y="5415352"/>
                </a:lnTo>
                <a:lnTo>
                  <a:pt x="0" y="541535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1028700" y="68565"/>
            <a:ext cx="6057900" cy="9746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627"/>
              </a:lnSpc>
            </a:pPr>
            <a:r>
              <a:rPr lang="en-US" sz="5866" spc="-58" dirty="0" err="1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Файл</a:t>
            </a:r>
            <a:r>
              <a:rPr lang="en-US" sz="5866" spc="-58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settings.py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39238" y="1026795"/>
            <a:ext cx="10371078" cy="92602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sz="3300">
                <a:solidFill>
                  <a:srgbClr val="000000"/>
                </a:solidFill>
                <a:latin typeface="Noto Serif Display"/>
                <a:ea typeface="Noto Serif Display"/>
                <a:cs typeface="Noto Serif Display"/>
                <a:sym typeface="Noto Serif Display"/>
              </a:rPr>
              <a:t>Цей файл містить усі основні налаштування, які використовуються по всій грі. Він визначає середовище, в якому працюють інші модулі.</a:t>
            </a:r>
          </a:p>
          <a:p>
            <a:pPr algn="l">
              <a:lnSpc>
                <a:spcPts val="4620"/>
              </a:lnSpc>
            </a:pPr>
            <a:r>
              <a:rPr lang="en-US" sz="3300">
                <a:solidFill>
                  <a:srgbClr val="000000"/>
                </a:solidFill>
                <a:latin typeface="Noto Serif Display"/>
                <a:ea typeface="Noto Serif Display"/>
                <a:cs typeface="Noto Serif Display"/>
                <a:sym typeface="Noto Serif Display"/>
              </a:rPr>
              <a:t>Що містить:</a:t>
            </a:r>
          </a:p>
          <a:p>
            <a:pPr marL="712470" lvl="1" indent="-356235" algn="l">
              <a:lnSpc>
                <a:spcPts val="4620"/>
              </a:lnSpc>
              <a:buFont typeface="Arial"/>
              <a:buChar char="•"/>
            </a:pPr>
            <a:r>
              <a:rPr lang="en-US" sz="3300">
                <a:solidFill>
                  <a:srgbClr val="000000"/>
                </a:solidFill>
                <a:latin typeface="Noto Serif Display"/>
                <a:ea typeface="Noto Serif Display"/>
                <a:cs typeface="Noto Serif Display"/>
                <a:sym typeface="Noto Serif Display"/>
              </a:rPr>
              <a:t>Розміри вікна гри (WINDOW_W, WINDOW_H) — визначають поле відображення.</a:t>
            </a:r>
          </a:p>
          <a:p>
            <a:pPr marL="712470" lvl="1" indent="-356235" algn="l">
              <a:lnSpc>
                <a:spcPts val="4620"/>
              </a:lnSpc>
              <a:buFont typeface="Arial"/>
              <a:buChar char="•"/>
            </a:pPr>
            <a:r>
              <a:rPr lang="en-US" sz="3300">
                <a:solidFill>
                  <a:srgbClr val="000000"/>
                </a:solidFill>
                <a:latin typeface="Noto Serif Display"/>
                <a:ea typeface="Noto Serif Display"/>
                <a:cs typeface="Noto Serif Display"/>
                <a:sym typeface="Noto Serif Display"/>
              </a:rPr>
              <a:t>Базове FPS (BASE_FPS) — використовується для контролю швидкості гри.</a:t>
            </a:r>
          </a:p>
          <a:p>
            <a:pPr marL="690881" lvl="1" indent="-345440" algn="l">
              <a:lnSpc>
                <a:spcPts val="4480"/>
              </a:lnSpc>
              <a:buFont typeface="Arial"/>
              <a:buChar char="•"/>
            </a:pPr>
            <a:r>
              <a:rPr lang="en-US" sz="3200">
                <a:solidFill>
                  <a:srgbClr val="000000"/>
                </a:solidFill>
                <a:latin typeface="Noto Serif Display"/>
                <a:ea typeface="Noto Serif Display"/>
                <a:cs typeface="Noto Serif Display"/>
                <a:sym typeface="Noto Serif Display"/>
              </a:rPr>
              <a:t>Константи складнощів (DIFFICULTIES)</a:t>
            </a:r>
          </a:p>
          <a:p>
            <a:pPr marL="712470" lvl="1" indent="-356235" algn="l">
              <a:lnSpc>
                <a:spcPts val="4620"/>
              </a:lnSpc>
              <a:buFont typeface="Arial"/>
              <a:buChar char="•"/>
            </a:pPr>
            <a:r>
              <a:rPr lang="en-US" sz="3300">
                <a:solidFill>
                  <a:srgbClr val="000000"/>
                </a:solidFill>
                <a:latin typeface="Noto Serif Display"/>
                <a:ea typeface="Noto Serif Display"/>
                <a:cs typeface="Noto Serif Display"/>
                <a:sym typeface="Noto Serif Display"/>
              </a:rPr>
              <a:t>Кольори інтерфейсу — основні RGB-палітри для фону, обведень, тексту.</a:t>
            </a:r>
          </a:p>
          <a:p>
            <a:pPr marL="712470" lvl="1" indent="-356235" algn="l">
              <a:lnSpc>
                <a:spcPts val="4620"/>
              </a:lnSpc>
              <a:buFont typeface="Arial"/>
              <a:buChar char="•"/>
            </a:pPr>
            <a:r>
              <a:rPr lang="en-US" sz="3300">
                <a:solidFill>
                  <a:srgbClr val="000000"/>
                </a:solidFill>
                <a:latin typeface="Noto Serif Display"/>
                <a:ea typeface="Noto Serif Display"/>
                <a:cs typeface="Noto Serif Display"/>
                <a:sym typeface="Noto Serif Display"/>
              </a:rPr>
              <a:t>Кольори кнопок — стандарт, наведення, текст.</a:t>
            </a:r>
          </a:p>
          <a:p>
            <a:pPr marL="712470" lvl="1" indent="-356235" algn="l">
              <a:lnSpc>
                <a:spcPts val="4620"/>
              </a:lnSpc>
              <a:buFont typeface="Arial"/>
              <a:buChar char="•"/>
            </a:pPr>
            <a:r>
              <a:rPr lang="en-US" sz="3300">
                <a:solidFill>
                  <a:srgbClr val="000000"/>
                </a:solidFill>
                <a:latin typeface="Noto Serif Display"/>
                <a:ea typeface="Noto Serif Display"/>
                <a:cs typeface="Noto Serif Display"/>
                <a:sym typeface="Noto Serif Display"/>
              </a:rPr>
              <a:t>Параметри кисню (OXYGEN_SECONDS) для режиму занурення.</a:t>
            </a:r>
          </a:p>
          <a:p>
            <a:pPr algn="l">
              <a:lnSpc>
                <a:spcPts val="4620"/>
              </a:lnSpc>
            </a:pPr>
            <a:endParaRPr lang="en-US" sz="3300">
              <a:solidFill>
                <a:srgbClr val="000000"/>
              </a:solidFill>
              <a:latin typeface="Noto Serif Display"/>
              <a:ea typeface="Noto Serif Display"/>
              <a:cs typeface="Noto Serif Display"/>
              <a:sym typeface="Noto Serif Display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519585" y="1244432"/>
            <a:ext cx="8628644" cy="7798137"/>
          </a:xfrm>
          <a:custGeom>
            <a:avLst/>
            <a:gdLst/>
            <a:ahLst/>
            <a:cxnLst/>
            <a:rect l="l" t="t" r="r" b="b"/>
            <a:pathLst>
              <a:path w="8628644" h="7798137">
                <a:moveTo>
                  <a:pt x="0" y="0"/>
                </a:moveTo>
                <a:lnTo>
                  <a:pt x="8628644" y="0"/>
                </a:lnTo>
                <a:lnTo>
                  <a:pt x="8628644" y="7798136"/>
                </a:lnTo>
                <a:lnTo>
                  <a:pt x="0" y="779813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028700" y="68565"/>
            <a:ext cx="5524500" cy="9746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627"/>
              </a:lnSpc>
            </a:pPr>
            <a:r>
              <a:rPr lang="en-US" sz="5866" spc="-58" dirty="0" err="1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Файл</a:t>
            </a:r>
            <a:r>
              <a:rPr lang="en-US" sz="5866" spc="-58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button.py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430615" y="1177757"/>
            <a:ext cx="8713385" cy="8981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Noto Serif Display"/>
                <a:ea typeface="Noto Serif Display"/>
                <a:cs typeface="Noto Serif Display"/>
                <a:sym typeface="Noto Serif Display"/>
              </a:rPr>
              <a:t>Файл містить клас кнопки, який використовується меню для створення інтерактивного інтерфейсу.</a:t>
            </a:r>
          </a:p>
          <a:p>
            <a:pPr algn="just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Noto Serif Display"/>
                <a:ea typeface="Noto Serif Display"/>
                <a:cs typeface="Noto Serif Display"/>
                <a:sym typeface="Noto Serif Display"/>
              </a:rPr>
              <a:t>Основні елементи:</a:t>
            </a:r>
          </a:p>
          <a:p>
            <a:pPr marL="734059" lvl="1" indent="-367030" algn="just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000000"/>
                </a:solidFill>
                <a:latin typeface="Noto Serif Display"/>
                <a:ea typeface="Noto Serif Display"/>
                <a:cs typeface="Noto Serif Display"/>
                <a:sym typeface="Noto Serif Display"/>
              </a:rPr>
              <a:t>Button:</a:t>
            </a:r>
          </a:p>
          <a:p>
            <a:pPr marL="1468119" lvl="2" indent="-489373" algn="just">
              <a:lnSpc>
                <a:spcPts val="4759"/>
              </a:lnSpc>
              <a:buFont typeface="Arial"/>
              <a:buChar char="⚬"/>
            </a:pPr>
            <a:r>
              <a:rPr lang="en-US" sz="3399">
                <a:solidFill>
                  <a:srgbClr val="000000"/>
                </a:solidFill>
                <a:latin typeface="Noto Serif Display"/>
                <a:ea typeface="Noto Serif Display"/>
                <a:cs typeface="Noto Serif Display"/>
                <a:sym typeface="Noto Serif Display"/>
              </a:rPr>
              <a:t>прямокутник (rect)</a:t>
            </a:r>
          </a:p>
          <a:p>
            <a:pPr marL="1468119" lvl="2" indent="-489373" algn="just">
              <a:lnSpc>
                <a:spcPts val="4759"/>
              </a:lnSpc>
              <a:buFont typeface="Arial"/>
              <a:buChar char="⚬"/>
            </a:pPr>
            <a:r>
              <a:rPr lang="en-US" sz="3399">
                <a:solidFill>
                  <a:srgbClr val="000000"/>
                </a:solidFill>
                <a:latin typeface="Noto Serif Display"/>
                <a:ea typeface="Noto Serif Display"/>
                <a:cs typeface="Noto Serif Display"/>
                <a:sym typeface="Noto Serif Display"/>
              </a:rPr>
              <a:t>текст всередині кнопки</a:t>
            </a:r>
          </a:p>
          <a:p>
            <a:pPr marL="1468119" lvl="2" indent="-489373" algn="just">
              <a:lnSpc>
                <a:spcPts val="4759"/>
              </a:lnSpc>
              <a:buFont typeface="Arial"/>
              <a:buChar char="⚬"/>
            </a:pPr>
            <a:r>
              <a:rPr lang="en-US" sz="3399">
                <a:solidFill>
                  <a:srgbClr val="000000"/>
                </a:solidFill>
                <a:latin typeface="Noto Serif Display"/>
                <a:ea typeface="Noto Serif Display"/>
                <a:cs typeface="Noto Serif Display"/>
                <a:sym typeface="Noto Serif Display"/>
              </a:rPr>
              <a:t>стан наведення</a:t>
            </a:r>
          </a:p>
          <a:p>
            <a:pPr marL="1468119" lvl="2" indent="-489373" algn="just">
              <a:lnSpc>
                <a:spcPts val="4759"/>
              </a:lnSpc>
              <a:buFont typeface="Arial"/>
              <a:buChar char="⚬"/>
            </a:pPr>
            <a:r>
              <a:rPr lang="en-US" sz="3399">
                <a:solidFill>
                  <a:srgbClr val="000000"/>
                </a:solidFill>
                <a:latin typeface="Noto Serif Display"/>
                <a:ea typeface="Noto Serif Display"/>
                <a:cs typeface="Noto Serif Display"/>
                <a:sym typeface="Noto Serif Display"/>
              </a:rPr>
              <a:t>методи:</a:t>
            </a:r>
          </a:p>
          <a:p>
            <a:pPr marL="2202178" lvl="3" indent="-550545" algn="just">
              <a:lnSpc>
                <a:spcPts val="4759"/>
              </a:lnSpc>
              <a:buFont typeface="Arial"/>
              <a:buChar char="￭"/>
            </a:pPr>
            <a:r>
              <a:rPr lang="en-US" sz="3399">
                <a:solidFill>
                  <a:srgbClr val="000000"/>
                </a:solidFill>
                <a:latin typeface="Noto Serif Display"/>
                <a:ea typeface="Noto Serif Display"/>
                <a:cs typeface="Noto Serif Display"/>
                <a:sym typeface="Noto Serif Display"/>
              </a:rPr>
              <a:t>draw()  -  відобразити кнопку</a:t>
            </a:r>
          </a:p>
          <a:p>
            <a:pPr marL="2202178" lvl="3" indent="-550545" algn="just">
              <a:lnSpc>
                <a:spcPts val="4759"/>
              </a:lnSpc>
              <a:buFont typeface="Arial"/>
              <a:buChar char="￭"/>
            </a:pPr>
            <a:r>
              <a:rPr lang="en-US" sz="3399">
                <a:solidFill>
                  <a:srgbClr val="000000"/>
                </a:solidFill>
                <a:latin typeface="Noto Serif Display"/>
                <a:ea typeface="Noto Serif Display"/>
                <a:cs typeface="Noto Serif Display"/>
                <a:sym typeface="Noto Serif Display"/>
              </a:rPr>
              <a:t>check_hover() - перевірити наведення курсора</a:t>
            </a:r>
          </a:p>
          <a:p>
            <a:pPr marL="2202178" lvl="3" indent="-550545" algn="just">
              <a:lnSpc>
                <a:spcPts val="4759"/>
              </a:lnSpc>
              <a:buFont typeface="Arial"/>
              <a:buChar char="￭"/>
            </a:pPr>
            <a:r>
              <a:rPr lang="en-US" sz="3399">
                <a:solidFill>
                  <a:srgbClr val="000000"/>
                </a:solidFill>
                <a:latin typeface="Noto Serif Display"/>
                <a:ea typeface="Noto Serif Display"/>
                <a:cs typeface="Noto Serif Display"/>
                <a:sym typeface="Noto Serif Display"/>
              </a:rPr>
              <a:t>check_click() - повертає ID дії при натисканні</a:t>
            </a:r>
          </a:p>
          <a:p>
            <a:pPr algn="just">
              <a:lnSpc>
                <a:spcPts val="4759"/>
              </a:lnSpc>
            </a:pPr>
            <a:endParaRPr lang="en-US" sz="3399">
              <a:solidFill>
                <a:srgbClr val="000000"/>
              </a:solidFill>
              <a:latin typeface="Noto Serif Display"/>
              <a:ea typeface="Noto Serif Display"/>
              <a:cs typeface="Noto Serif Display"/>
              <a:sym typeface="Noto Serif Display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6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28345" b="-28345"/>
              </a:stretch>
            </a:blipFill>
          </p:spPr>
        </p:sp>
      </p:grpSp>
      <p:grpSp>
        <p:nvGrpSpPr>
          <p:cNvPr id="2" name="Group 2"/>
          <p:cNvGrpSpPr/>
          <p:nvPr/>
        </p:nvGrpSpPr>
        <p:grpSpPr>
          <a:xfrm>
            <a:off x="1028700" y="1028700"/>
            <a:ext cx="16230600" cy="8229600"/>
            <a:chOff x="0" y="0"/>
            <a:chExt cx="21640800" cy="10972800"/>
          </a:xfrm>
        </p:grpSpPr>
        <p:sp>
          <p:nvSpPr>
            <p:cNvPr id="3" name="Freeform 3">
              <a:extLs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/>
          </p:nvSpPr>
          <p:spPr>
            <a:xfrm>
              <a:off x="0" y="0"/>
              <a:ext cx="21640800" cy="10972800"/>
            </a:xfrm>
            <a:custGeom>
              <a:avLst/>
              <a:gdLst/>
              <a:ahLst/>
              <a:cxnLst/>
              <a:rect l="l" t="t" r="r" b="b"/>
              <a:pathLst>
                <a:path w="21640800" h="10972800">
                  <a:moveTo>
                    <a:pt x="0" y="0"/>
                  </a:moveTo>
                  <a:lnTo>
                    <a:pt x="21640800" y="0"/>
                  </a:lnTo>
                  <a:lnTo>
                    <a:pt x="21640800" y="10972800"/>
                  </a:lnTo>
                  <a:lnTo>
                    <a:pt x="0" y="10972800"/>
                  </a:lnTo>
                  <a:close/>
                </a:path>
              </a:pathLst>
            </a:custGeom>
            <a:solidFill>
              <a:srgbClr val="EBEBEB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id="4" name="TextBox 4"/>
          <p:cNvSpPr txBox="1"/>
          <p:nvPr/>
        </p:nvSpPr>
        <p:spPr>
          <a:xfrm>
            <a:off x="3314571" y="4440237"/>
            <a:ext cx="11658859" cy="1235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100"/>
              </a:lnSpc>
            </a:pPr>
            <a:r>
              <a:rPr lang="en-US" sz="7000" spc="-7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Дякую за увагу!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594</Words>
  <Application>Microsoft Office PowerPoint</Application>
  <PresentationFormat>Произвольный</PresentationFormat>
  <Paragraphs>87</Paragraphs>
  <Slides>11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9" baseType="lpstr">
      <vt:lpstr>Noto Serif Display</vt:lpstr>
      <vt:lpstr>Roboto Bold</vt:lpstr>
      <vt:lpstr>PT Serif Bold</vt:lpstr>
      <vt:lpstr>PT Serif</vt:lpstr>
      <vt:lpstr>Arial</vt:lpstr>
      <vt:lpstr>Roboto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Привітання ...</dc:title>
  <dc:creator>АЛЁША</dc:creator>
  <cp:lastModifiedBy>АЛЁША</cp:lastModifiedBy>
  <cp:revision>5</cp:revision>
  <dcterms:created xsi:type="dcterms:W3CDTF">2006-08-16T00:00:00Z</dcterms:created>
  <dcterms:modified xsi:type="dcterms:W3CDTF">2025-12-03T19:54:10Z</dcterms:modified>
  <dc:identifier>DAG6eUV9IqM</dc:identifier>
</cp:coreProperties>
</file>