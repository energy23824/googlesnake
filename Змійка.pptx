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Noto Serif Display" panose="020B0604020202020204"/>
      <p:regular r:id="rId12"/>
    </p:embeddedFont>
    <p:embeddedFont>
      <p:font typeface="Roboto Bold" panose="020B0604020202020204" charset="0"/>
      <p:regular r:id="rId13"/>
    </p:embeddedFont>
    <p:embeddedFont>
      <p:font typeface="PT Serif Bold" panose="020B0604020202020204" charset="-52"/>
      <p:regular r:id="rId14"/>
    </p:embeddedFont>
    <p:embeddedFont>
      <p:font typeface="PT Serif" panose="020B0604020202020204" charset="-52"/>
      <p:regular r:id="rId15"/>
    </p:embeddedFont>
    <p:embeddedFont>
      <p:font typeface="Roboto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345" b="-2834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304471" y="1028700"/>
            <a:ext cx="16230600" cy="8229600"/>
            <a:chOff x="0" y="0"/>
            <a:chExt cx="21640800" cy="10972800"/>
          </a:xfrm>
        </p:grpSpPr>
        <p:sp>
          <p:nvSpPr>
            <p:cNvPr id="5" name="Freeform 5">
              <a:extLs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0" y="0"/>
              <a:ext cx="21640800" cy="10972800"/>
            </a:xfrm>
            <a:custGeom>
              <a:avLst/>
              <a:gdLst/>
              <a:ahLst/>
              <a:cxnLst/>
              <a:rect l="l" t="t" r="r" b="b"/>
              <a:pathLst>
                <a:path w="21640800" h="10972800">
                  <a:moveTo>
                    <a:pt x="0" y="0"/>
                  </a:moveTo>
                  <a:lnTo>
                    <a:pt x="21640800" y="0"/>
                  </a:lnTo>
                  <a:lnTo>
                    <a:pt x="21640800" y="10972800"/>
                  </a:lnTo>
                  <a:lnTo>
                    <a:pt x="0" y="109728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Freeform 6"/>
          <p:cNvSpPr/>
          <p:nvPr/>
        </p:nvSpPr>
        <p:spPr>
          <a:xfrm>
            <a:off x="13224660" y="1038225"/>
            <a:ext cx="4300886" cy="3413402"/>
          </a:xfrm>
          <a:custGeom>
            <a:avLst/>
            <a:gdLst/>
            <a:ahLst/>
            <a:cxnLst/>
            <a:rect l="l" t="t" r="r" b="b"/>
            <a:pathLst>
              <a:path w="4300886" h="3413402">
                <a:moveTo>
                  <a:pt x="0" y="0"/>
                </a:moveTo>
                <a:lnTo>
                  <a:pt x="4300886" y="0"/>
                </a:lnTo>
                <a:lnTo>
                  <a:pt x="4300886" y="3413402"/>
                </a:lnTo>
                <a:lnTo>
                  <a:pt x="0" y="34134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47800" y="1537057"/>
            <a:ext cx="9906000" cy="1235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271"/>
              </a:lnSpc>
            </a:pPr>
            <a:r>
              <a:rPr lang="en-US" sz="9272" b="1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Проект</a:t>
            </a:r>
            <a:r>
              <a:rPr lang="en-US" sz="9272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“</a:t>
            </a:r>
            <a:r>
              <a:rPr lang="en-US" sz="9272" b="1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Змійка</a:t>
            </a:r>
            <a:r>
              <a:rPr lang="en-US" sz="9272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46385" y="3360481"/>
            <a:ext cx="11374229" cy="273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Вітаю, мене звати Безуглий Олексій я навчаюся у школі “Logika” на 2 році курсу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" r="-3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96162" y="2229915"/>
            <a:ext cx="6942583" cy="7310402"/>
          </a:xfrm>
          <a:custGeom>
            <a:avLst/>
            <a:gdLst/>
            <a:ahLst/>
            <a:cxnLst/>
            <a:rect l="l" t="t" r="r" b="b"/>
            <a:pathLst>
              <a:path w="6942583" h="7310402">
                <a:moveTo>
                  <a:pt x="0" y="0"/>
                </a:moveTo>
                <a:lnTo>
                  <a:pt x="6942582" y="0"/>
                </a:lnTo>
                <a:lnTo>
                  <a:pt x="6942582" y="7310401"/>
                </a:lnTo>
                <a:lnTo>
                  <a:pt x="0" y="73104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309791" y="2229915"/>
            <a:ext cx="6949509" cy="7310402"/>
          </a:xfrm>
          <a:custGeom>
            <a:avLst/>
            <a:gdLst/>
            <a:ahLst/>
            <a:cxnLst/>
            <a:rect l="l" t="t" r="r" b="b"/>
            <a:pathLst>
              <a:path w="6949509" h="7310402">
                <a:moveTo>
                  <a:pt x="0" y="0"/>
                </a:moveTo>
                <a:lnTo>
                  <a:pt x="6949509" y="0"/>
                </a:lnTo>
                <a:lnTo>
                  <a:pt x="6949509" y="7310401"/>
                </a:lnTo>
                <a:lnTo>
                  <a:pt x="0" y="73104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917722" y="331470"/>
            <a:ext cx="14452555" cy="1661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4400">
                <a:solidFill>
                  <a:srgbClr val="96C53D"/>
                </a:solidFill>
                <a:latin typeface="Roboto"/>
                <a:ea typeface="Roboto"/>
                <a:cs typeface="Roboto"/>
                <a:sym typeface="Roboto"/>
              </a:rPr>
              <a:t>З</a:t>
            </a:r>
            <a:r>
              <a:rPr lang="en-US" sz="14400">
                <a:solidFill>
                  <a:srgbClr val="487AF7"/>
                </a:solidFill>
                <a:latin typeface="Roboto"/>
                <a:ea typeface="Roboto"/>
                <a:cs typeface="Roboto"/>
                <a:sym typeface="Roboto"/>
              </a:rPr>
              <a:t>м</a:t>
            </a:r>
            <a:r>
              <a:rPr lang="en-US" sz="14400">
                <a:solidFill>
                  <a:srgbClr val="96C53D"/>
                </a:solidFill>
                <a:latin typeface="Roboto"/>
                <a:ea typeface="Roboto"/>
                <a:cs typeface="Roboto"/>
                <a:sym typeface="Roboto"/>
              </a:rPr>
              <a:t>і</a:t>
            </a:r>
            <a:r>
              <a:rPr lang="en-US" sz="14400">
                <a:solidFill>
                  <a:srgbClr val="487AF7"/>
                </a:solidFill>
                <a:latin typeface="Roboto"/>
                <a:ea typeface="Roboto"/>
                <a:cs typeface="Roboto"/>
                <a:sym typeface="Roboto"/>
              </a:rPr>
              <a:t>й</a:t>
            </a:r>
            <a:r>
              <a:rPr lang="en-US" sz="14400">
                <a:solidFill>
                  <a:srgbClr val="96C53D"/>
                </a:solidFill>
                <a:latin typeface="Roboto"/>
                <a:ea typeface="Roboto"/>
                <a:cs typeface="Roboto"/>
                <a:sym typeface="Roboto"/>
              </a:rPr>
              <a:t>к</a:t>
            </a:r>
            <a:r>
              <a:rPr lang="en-US" sz="14400">
                <a:solidFill>
                  <a:srgbClr val="487AF7"/>
                </a:solidFill>
                <a:latin typeface="Roboto"/>
                <a:ea typeface="Roboto"/>
                <a:cs typeface="Roboto"/>
                <a:sym typeface="Roboto"/>
              </a:rPr>
              <a:t>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89239" y="-9073"/>
            <a:ext cx="5544039" cy="10296073"/>
            <a:chOff x="0" y="0"/>
            <a:chExt cx="7392052" cy="137280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92035" cy="13728064"/>
            </a:xfrm>
            <a:custGeom>
              <a:avLst/>
              <a:gdLst/>
              <a:ahLst/>
              <a:cxnLst/>
              <a:rect l="l" t="t" r="r" b="b"/>
              <a:pathLst>
                <a:path w="7392035" h="13728064">
                  <a:moveTo>
                    <a:pt x="0" y="0"/>
                  </a:moveTo>
                  <a:lnTo>
                    <a:pt x="7392035" y="0"/>
                  </a:lnTo>
                  <a:lnTo>
                    <a:pt x="7392035" y="13728064"/>
                  </a:lnTo>
                  <a:lnTo>
                    <a:pt x="0" y="13728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07697" y="363622"/>
            <a:ext cx="13408303" cy="102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7"/>
              </a:lnSpc>
            </a:pPr>
            <a:r>
              <a:rPr lang="en-US" sz="5866" spc="-5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Структура мого проекту “Змійка”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0953" y="7060858"/>
            <a:ext cx="10144893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Також є папка assets, у якій розміщені підпапки: images (зображення) та sounds (звуки).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7697" y="1727754"/>
            <a:ext cx="11611381" cy="5399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396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Мій проєкт складається з 6 основних файлів:</a:t>
            </a:r>
          </a:p>
          <a:p>
            <a:pPr marL="733369" lvl="1" indent="-366685" algn="l">
              <a:lnSpc>
                <a:spcPts val="4755"/>
              </a:lnSpc>
              <a:buAutoNum type="arabicPeriod"/>
            </a:pPr>
            <a:r>
              <a:rPr lang="en-US" sz="3396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main.py — головний файл, відповідає за основний ігровий цикл.</a:t>
            </a:r>
          </a:p>
          <a:p>
            <a:pPr marL="733369" lvl="1" indent="-366685" algn="l">
              <a:lnSpc>
                <a:spcPts val="4755"/>
              </a:lnSpc>
              <a:buAutoNum type="arabicPeriod"/>
            </a:pPr>
            <a:r>
              <a:rPr lang="en-US" sz="3396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food.py — відповідає за їжу та перешкоди.</a:t>
            </a:r>
          </a:p>
          <a:p>
            <a:pPr marL="733369" lvl="1" indent="-366685" algn="l">
              <a:lnSpc>
                <a:spcPts val="4755"/>
              </a:lnSpc>
              <a:buAutoNum type="arabicPeriod"/>
            </a:pPr>
            <a:r>
              <a:rPr lang="en-US" sz="3396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snake.py — відповідає за керування змійкою.</a:t>
            </a:r>
          </a:p>
          <a:p>
            <a:pPr marL="733369" lvl="1" indent="-366685" algn="l">
              <a:lnSpc>
                <a:spcPts val="4755"/>
              </a:lnSpc>
              <a:buAutoNum type="arabicPeriod"/>
            </a:pPr>
            <a:r>
              <a:rPr lang="en-US" sz="3396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menu.py — відповідає за меню гри.</a:t>
            </a:r>
          </a:p>
          <a:p>
            <a:pPr marL="733369" lvl="1" indent="-366685" algn="l">
              <a:lnSpc>
                <a:spcPts val="4755"/>
              </a:lnSpc>
              <a:buAutoNum type="arabicPeriod"/>
            </a:pPr>
            <a:r>
              <a:rPr lang="en-US" sz="3396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button.py — відповідає за кнопки в меню.</a:t>
            </a:r>
          </a:p>
          <a:p>
            <a:pPr marL="733369" lvl="1" indent="-366685" algn="l">
              <a:lnSpc>
                <a:spcPts val="4755"/>
              </a:lnSpc>
              <a:buAutoNum type="arabicPeriod"/>
            </a:pPr>
            <a:r>
              <a:rPr lang="en-US" sz="3396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settings.py — містить усі налаштування та змінні гри.</a:t>
            </a:r>
          </a:p>
          <a:p>
            <a:pPr algn="l">
              <a:lnSpc>
                <a:spcPts val="4755"/>
              </a:lnSpc>
            </a:pPr>
            <a:endParaRPr lang="en-US" sz="3396">
              <a:solidFill>
                <a:srgbClr val="000000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54083" y="5451460"/>
            <a:ext cx="7486267" cy="4835540"/>
          </a:xfrm>
          <a:custGeom>
            <a:avLst/>
            <a:gdLst/>
            <a:ahLst/>
            <a:cxnLst/>
            <a:rect l="l" t="t" r="r" b="b"/>
            <a:pathLst>
              <a:path w="7486267" h="4835540">
                <a:moveTo>
                  <a:pt x="0" y="0"/>
                </a:moveTo>
                <a:lnTo>
                  <a:pt x="7486267" y="0"/>
                </a:lnTo>
                <a:lnTo>
                  <a:pt x="7486267" y="4835540"/>
                </a:lnTo>
                <a:lnTo>
                  <a:pt x="0" y="4835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15" b="-31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54083" y="0"/>
            <a:ext cx="7486267" cy="5451460"/>
          </a:xfrm>
          <a:custGeom>
            <a:avLst/>
            <a:gdLst/>
            <a:ahLst/>
            <a:cxnLst/>
            <a:rect l="l" t="t" r="r" b="b"/>
            <a:pathLst>
              <a:path w="7486267" h="5451460">
                <a:moveTo>
                  <a:pt x="0" y="0"/>
                </a:moveTo>
                <a:lnTo>
                  <a:pt x="7486267" y="0"/>
                </a:lnTo>
                <a:lnTo>
                  <a:pt x="7486267" y="5451460"/>
                </a:lnTo>
                <a:lnTo>
                  <a:pt x="0" y="5451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63013" y="303144"/>
            <a:ext cx="5585387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27"/>
              </a:lnSpc>
            </a:pPr>
            <a:r>
              <a:rPr lang="en-US" sz="5866" spc="-58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Файл</a:t>
            </a:r>
            <a:r>
              <a:rPr lang="en-US" sz="5866" spc="-58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main.py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3013" y="1305479"/>
            <a:ext cx="9532152" cy="898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55"/>
              </a:lnSpc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Головний файл гри.</a:t>
            </a:r>
          </a:p>
          <a:p>
            <a:pPr marL="0" lvl="0" indent="0" algn="l">
              <a:lnSpc>
                <a:spcPts val="4755"/>
              </a:lnSpc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Що тут відбувається:</a:t>
            </a:r>
          </a:p>
          <a:p>
            <a:pPr marL="733370" lvl="1" indent="-366685" algn="l">
              <a:lnSpc>
                <a:spcPts val="4755"/>
              </a:lnSpc>
              <a:buFont typeface="Arial"/>
              <a:buChar char="•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ініціалізація pygame і системи звуку</a:t>
            </a:r>
          </a:p>
          <a:p>
            <a:pPr marL="733370" lvl="1" indent="-366685" algn="l">
              <a:lnSpc>
                <a:spcPts val="4755"/>
              </a:lnSpc>
              <a:buFont typeface="Arial"/>
              <a:buChar char="•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ввімкнення музики</a:t>
            </a:r>
          </a:p>
          <a:p>
            <a:pPr marL="733370" lvl="1" indent="-366685" algn="l">
              <a:lnSpc>
                <a:spcPts val="4755"/>
              </a:lnSpc>
              <a:buFont typeface="Arial"/>
              <a:buChar char="•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створення об’єкта меню</a:t>
            </a:r>
          </a:p>
          <a:p>
            <a:pPr marL="733370" lvl="1" indent="-366685" algn="l">
              <a:lnSpc>
                <a:spcPts val="4755"/>
              </a:lnSpc>
              <a:buFont typeface="Arial"/>
              <a:buChar char="•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головний цикл програми:</a:t>
            </a:r>
          </a:p>
          <a:p>
            <a:pPr marL="1466739" lvl="2" indent="-488913" algn="l">
              <a:lnSpc>
                <a:spcPts val="4755"/>
              </a:lnSpc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перемикання між MENU та GAME</a:t>
            </a:r>
          </a:p>
          <a:p>
            <a:pPr marL="1466739" lvl="2" indent="-488913" algn="l">
              <a:lnSpc>
                <a:spcPts val="4755"/>
              </a:lnSpc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обробка подій клавіатури й миші</a:t>
            </a:r>
          </a:p>
          <a:p>
            <a:pPr marL="1466739" lvl="2" indent="-488913" algn="l">
              <a:lnSpc>
                <a:spcPts val="4755"/>
              </a:lnSpc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створення нового об’єкта Snake після натискання «Грати»</a:t>
            </a:r>
          </a:p>
          <a:p>
            <a:pPr marL="1466739" lvl="2" indent="-488913" algn="l">
              <a:lnSpc>
                <a:spcPts val="4755"/>
              </a:lnSpc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відображення меню або гри</a:t>
            </a:r>
          </a:p>
          <a:p>
            <a:pPr marL="1466739" lvl="2" indent="-488913" algn="l">
              <a:lnSpc>
                <a:spcPts val="4755"/>
              </a:lnSpc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керування FPS</a:t>
            </a:r>
          </a:p>
          <a:p>
            <a:pPr marL="1466739" lvl="2" indent="-488913" algn="l">
              <a:lnSpc>
                <a:spcPts val="4755"/>
              </a:lnSpc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обробка Game Over: очікування, малювання екрану смерті</a:t>
            </a:r>
          </a:p>
          <a:p>
            <a:pPr algn="l">
              <a:lnSpc>
                <a:spcPts val="4755"/>
              </a:lnSpc>
            </a:pPr>
            <a:endParaRPr lang="en-US" sz="3396" u="none" strike="noStrike">
              <a:solidFill>
                <a:srgbClr val="000000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045101"/>
            <a:ext cx="8443461" cy="5241899"/>
          </a:xfrm>
          <a:custGeom>
            <a:avLst/>
            <a:gdLst/>
            <a:ahLst/>
            <a:cxnLst/>
            <a:rect l="l" t="t" r="r" b="b"/>
            <a:pathLst>
              <a:path w="8610923" h="5241899">
                <a:moveTo>
                  <a:pt x="0" y="0"/>
                </a:moveTo>
                <a:lnTo>
                  <a:pt x="8610923" y="0"/>
                </a:lnTo>
                <a:lnTo>
                  <a:pt x="8610923" y="5241899"/>
                </a:lnTo>
                <a:lnTo>
                  <a:pt x="0" y="52418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8443461" cy="5045101"/>
          </a:xfrm>
          <a:custGeom>
            <a:avLst/>
            <a:gdLst/>
            <a:ahLst/>
            <a:cxnLst/>
            <a:rect l="l" t="t" r="r" b="b"/>
            <a:pathLst>
              <a:path w="8443461" h="5045101">
                <a:moveTo>
                  <a:pt x="0" y="0"/>
                </a:moveTo>
                <a:lnTo>
                  <a:pt x="8443461" y="0"/>
                </a:lnTo>
                <a:lnTo>
                  <a:pt x="8443461" y="5045101"/>
                </a:lnTo>
                <a:lnTo>
                  <a:pt x="0" y="5045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13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144000" y="68565"/>
            <a:ext cx="6781800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27"/>
              </a:lnSpc>
            </a:pPr>
            <a:r>
              <a:rPr lang="en-US" sz="5866" spc="-58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Файл</a:t>
            </a:r>
            <a:r>
              <a:rPr lang="en-US" sz="5866" spc="-58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snake.py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34846" y="1146309"/>
            <a:ext cx="9508229" cy="8381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5"/>
              </a:lnSpc>
              <a:spcBef>
                <a:spcPct val="0"/>
              </a:spcBef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Найскладніший файл. Тут реалізовано повний функціонал самої змійки, включно з рухом, малюванням, ефектами, колізіями та смертю.</a:t>
            </a:r>
          </a:p>
          <a:p>
            <a:pPr algn="l">
              <a:lnSpc>
                <a:spcPts val="4755"/>
              </a:lnSpc>
              <a:spcBef>
                <a:spcPct val="0"/>
              </a:spcBef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    Що містить: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Основні змінні: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координати тіла змійки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напрям руху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рахунок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стан занурення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таймер кисню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спрайти голови, хвоста, поворотів, яблук/бананів, каменів та пальм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звуки (поїдання, смерть)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об’єкти Food / Rocks / Palms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718534"/>
            <a:ext cx="8786534" cy="5568466"/>
          </a:xfrm>
          <a:custGeom>
            <a:avLst/>
            <a:gdLst/>
            <a:ahLst/>
            <a:cxnLst/>
            <a:rect l="l" t="t" r="r" b="b"/>
            <a:pathLst>
              <a:path w="8786534" h="5568466">
                <a:moveTo>
                  <a:pt x="0" y="0"/>
                </a:moveTo>
                <a:lnTo>
                  <a:pt x="8786534" y="0"/>
                </a:lnTo>
                <a:lnTo>
                  <a:pt x="8786534" y="5568466"/>
                </a:lnTo>
                <a:lnTo>
                  <a:pt x="0" y="5568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8786534" cy="4733745"/>
          </a:xfrm>
          <a:custGeom>
            <a:avLst/>
            <a:gdLst/>
            <a:ahLst/>
            <a:cxnLst/>
            <a:rect l="l" t="t" r="r" b="b"/>
            <a:pathLst>
              <a:path w="8786534" h="4733745">
                <a:moveTo>
                  <a:pt x="0" y="0"/>
                </a:moveTo>
                <a:lnTo>
                  <a:pt x="8786534" y="0"/>
                </a:lnTo>
                <a:lnTo>
                  <a:pt x="8786534" y="4733745"/>
                </a:lnTo>
                <a:lnTo>
                  <a:pt x="0" y="4733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144000" y="68565"/>
            <a:ext cx="5105400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27"/>
              </a:lnSpc>
            </a:pPr>
            <a:r>
              <a:rPr lang="en-US" sz="5866" spc="-58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Файл</a:t>
            </a:r>
            <a:r>
              <a:rPr lang="en-US" sz="5866" spc="-58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food.py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72231" y="962025"/>
            <a:ext cx="9215769" cy="898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5"/>
              </a:lnSpc>
              <a:spcBef>
                <a:spcPct val="0"/>
              </a:spcBef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Відповідає за генерацію яблук, бананів,                            каменів і пальм, що з’являються на карті. </a:t>
            </a:r>
          </a:p>
          <a:p>
            <a:pPr algn="l">
              <a:lnSpc>
                <a:spcPts val="4755"/>
              </a:lnSpc>
              <a:spcBef>
                <a:spcPct val="0"/>
              </a:spcBef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    Основні елементи: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Food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тип їжі (apple, banana)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випадкове розміщення у вільній клітині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уникнення змійки та перешкод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Rocks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зберігає кількість каменів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випадкова генерація розташувань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уникає тіла змійки 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Palms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аналогічні каменям, але не повинні перетинатися з ними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20437" y="1464874"/>
            <a:ext cx="9809670" cy="7357253"/>
          </a:xfrm>
          <a:custGeom>
            <a:avLst/>
            <a:gdLst/>
            <a:ahLst/>
            <a:cxnLst/>
            <a:rect l="l" t="t" r="r" b="b"/>
            <a:pathLst>
              <a:path w="9809670" h="7357253">
                <a:moveTo>
                  <a:pt x="0" y="0"/>
                </a:moveTo>
                <a:lnTo>
                  <a:pt x="9809671" y="0"/>
                </a:lnTo>
                <a:lnTo>
                  <a:pt x="9809671" y="7357252"/>
                </a:lnTo>
                <a:lnTo>
                  <a:pt x="0" y="7357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8565"/>
            <a:ext cx="5524500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27"/>
              </a:lnSpc>
            </a:pPr>
            <a:r>
              <a:rPr lang="en-US" sz="5866" spc="-58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Файл</a:t>
            </a:r>
            <a:r>
              <a:rPr lang="en-US" sz="5866" spc="-58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menu.py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3154" y="962025"/>
            <a:ext cx="8320437" cy="898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5"/>
              </a:lnSpc>
              <a:spcBef>
                <a:spcPct val="0"/>
              </a:spcBef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Файл відповідає за усю навігацію до початку гри: старт, опції, вихід, вибір складності, звук, музика.</a:t>
            </a:r>
          </a:p>
          <a:p>
            <a:pPr algn="l">
              <a:lnSpc>
                <a:spcPts val="4755"/>
              </a:lnSpc>
              <a:spcBef>
                <a:spcPct val="0"/>
              </a:spcBef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    Основні елементи:</a:t>
            </a:r>
          </a:p>
          <a:p>
            <a:pPr algn="l">
              <a:lnSpc>
                <a:spcPts val="4755"/>
              </a:lnSpc>
              <a:spcBef>
                <a:spcPct val="0"/>
              </a:spcBef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        Menu: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має стан (MAIN або SETTINGS)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зберігає вибрану складність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зберігає стани звуку й музики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завантажує фонову картинку меню</a:t>
            </a:r>
          </a:p>
          <a:p>
            <a:pPr algn="l">
              <a:lnSpc>
                <a:spcPts val="4755"/>
              </a:lnSpc>
              <a:spcBef>
                <a:spcPct val="0"/>
              </a:spcBef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         Списки кнопок: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головного меню (Грати, Налаштування, Вийти)</a:t>
            </a:r>
          </a:p>
          <a:p>
            <a:pPr marL="1466739" lvl="1" indent="-733370" algn="l">
              <a:lnSpc>
                <a:spcPts val="4755"/>
              </a:lnSpc>
              <a:spcBef>
                <a:spcPct val="0"/>
              </a:spcBef>
              <a:buFont typeface="Arial"/>
              <a:buChar char="⚬"/>
            </a:pPr>
            <a:r>
              <a:rPr lang="en-US" sz="3396" u="none" strike="noStrike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меню налаштувань (Складність, Звук, Музика, Назад)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67466" y="5821054"/>
            <a:ext cx="7284709" cy="3985525"/>
          </a:xfrm>
          <a:custGeom>
            <a:avLst/>
            <a:gdLst/>
            <a:ahLst/>
            <a:cxnLst/>
            <a:rect l="l" t="t" r="r" b="b"/>
            <a:pathLst>
              <a:path w="7284709" h="3985525">
                <a:moveTo>
                  <a:pt x="0" y="0"/>
                </a:moveTo>
                <a:lnTo>
                  <a:pt x="7284709" y="0"/>
                </a:lnTo>
                <a:lnTo>
                  <a:pt x="7284709" y="3985525"/>
                </a:lnTo>
                <a:lnTo>
                  <a:pt x="0" y="3985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" r="-413" b="-4621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657941" y="581970"/>
            <a:ext cx="7284709" cy="5415352"/>
          </a:xfrm>
          <a:custGeom>
            <a:avLst/>
            <a:gdLst/>
            <a:ahLst/>
            <a:cxnLst/>
            <a:rect l="l" t="t" r="r" b="b"/>
            <a:pathLst>
              <a:path w="7284709" h="5415352">
                <a:moveTo>
                  <a:pt x="0" y="0"/>
                </a:moveTo>
                <a:lnTo>
                  <a:pt x="7284709" y="0"/>
                </a:lnTo>
                <a:lnTo>
                  <a:pt x="7284709" y="5415352"/>
                </a:lnTo>
                <a:lnTo>
                  <a:pt x="0" y="5415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68565"/>
            <a:ext cx="6057900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27"/>
              </a:lnSpc>
            </a:pPr>
            <a:r>
              <a:rPr lang="en-US" sz="5866" spc="-58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Файл</a:t>
            </a:r>
            <a:r>
              <a:rPr lang="en-US" sz="5866" spc="-58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settings.py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9238" y="1026795"/>
            <a:ext cx="10371078" cy="926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Цей файл містить усі основні налаштування, які використовуються по всій грі. Він визначає середовище, в якому працюють інші модулі.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Що містить: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Розміри вікна гри (WINDOW_W, WINDOW_H) — визначають поле відображення.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Базове FPS (BASE_FPS) — використовується для контролю швидкості гри.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Константи складнощів (DIFFICULTIES)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Кольори інтерфейсу — основні RGB-палітри для фону, обведень, тексту.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Кольори кнопок — стандарт, наведення, текст.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Параметри кисню (OXYGEN_SECONDS) для режиму занурення.</a:t>
            </a:r>
          </a:p>
          <a:p>
            <a:pPr algn="l">
              <a:lnSpc>
                <a:spcPts val="4620"/>
              </a:lnSpc>
            </a:pPr>
            <a:endParaRPr lang="en-US" sz="3300">
              <a:solidFill>
                <a:srgbClr val="000000"/>
              </a:solidFill>
              <a:latin typeface="Noto Serif Display"/>
              <a:ea typeface="Noto Serif Display"/>
              <a:cs typeface="Noto Serif Display"/>
              <a:sym typeface="Noto Serif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19585" y="1244432"/>
            <a:ext cx="8628644" cy="7798137"/>
          </a:xfrm>
          <a:custGeom>
            <a:avLst/>
            <a:gdLst/>
            <a:ahLst/>
            <a:cxnLst/>
            <a:rect l="l" t="t" r="r" b="b"/>
            <a:pathLst>
              <a:path w="8628644" h="7798137">
                <a:moveTo>
                  <a:pt x="0" y="0"/>
                </a:moveTo>
                <a:lnTo>
                  <a:pt x="8628644" y="0"/>
                </a:lnTo>
                <a:lnTo>
                  <a:pt x="8628644" y="7798136"/>
                </a:lnTo>
                <a:lnTo>
                  <a:pt x="0" y="7798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8565"/>
            <a:ext cx="5524500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27"/>
              </a:lnSpc>
            </a:pPr>
            <a:r>
              <a:rPr lang="en-US" sz="5866" spc="-58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Файл</a:t>
            </a:r>
            <a:r>
              <a:rPr lang="en-US" sz="5866" spc="-58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button.py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0615" y="1177757"/>
            <a:ext cx="8713385" cy="898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Файл містить клас кнопки, який використовується меню для створення інтерактивного інтерфейсу.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Основні елементи: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Button:</a:t>
            </a:r>
          </a:p>
          <a:p>
            <a:pPr marL="1468119" lvl="2" indent="-489373" algn="just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прямокутник (rect)</a:t>
            </a:r>
          </a:p>
          <a:p>
            <a:pPr marL="1468119" lvl="2" indent="-489373" algn="just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текст всередині кнопки</a:t>
            </a:r>
          </a:p>
          <a:p>
            <a:pPr marL="1468119" lvl="2" indent="-489373" algn="just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стан наведення</a:t>
            </a:r>
          </a:p>
          <a:p>
            <a:pPr marL="1468119" lvl="2" indent="-489373" algn="just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методи:</a:t>
            </a:r>
          </a:p>
          <a:p>
            <a:pPr marL="2202178" lvl="3" indent="-550545" algn="just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draw()  -  відобразити кнопку</a:t>
            </a:r>
          </a:p>
          <a:p>
            <a:pPr marL="2202178" lvl="3" indent="-550545" algn="just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check_hover() - перевірити наведення курсора</a:t>
            </a:r>
          </a:p>
          <a:p>
            <a:pPr marL="2202178" lvl="3" indent="-550545" algn="just">
              <a:lnSpc>
                <a:spcPts val="4759"/>
              </a:lnSpc>
              <a:buFont typeface="Arial"/>
              <a:buChar char="￭"/>
            </a:pPr>
            <a:r>
              <a:rPr lang="en-US" sz="33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check_click() - повертає ID дії при натисканні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Noto Serif Display"/>
              <a:ea typeface="Noto Serif Display"/>
              <a:cs typeface="Noto Serif Display"/>
              <a:sym typeface="Noto Serif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345" b="-28345"/>
              </a:stretch>
            </a:blipFill>
          </p:spPr>
        </p:sp>
      </p:grpSp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21640800" cy="10972800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/>
          </p:nvSpPr>
          <p:spPr>
            <a:xfrm>
              <a:off x="0" y="0"/>
              <a:ext cx="21640800" cy="10972800"/>
            </a:xfrm>
            <a:custGeom>
              <a:avLst/>
              <a:gdLst/>
              <a:ahLst/>
              <a:cxnLst/>
              <a:rect l="l" t="t" r="r" b="b"/>
              <a:pathLst>
                <a:path w="21640800" h="10972800">
                  <a:moveTo>
                    <a:pt x="0" y="0"/>
                  </a:moveTo>
                  <a:lnTo>
                    <a:pt x="21640800" y="0"/>
                  </a:lnTo>
                  <a:lnTo>
                    <a:pt x="21640800" y="10972800"/>
                  </a:lnTo>
                  <a:lnTo>
                    <a:pt x="0" y="10972800"/>
                  </a:lnTo>
                  <a:close/>
                </a:path>
              </a:pathLst>
            </a:custGeom>
            <a:solidFill>
              <a:srgbClr val="EBEBE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3314571" y="4440237"/>
            <a:ext cx="11658859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7000" spc="-7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Дякую за увагу!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504</Words>
  <Application>Microsoft Office PowerPoint</Application>
  <PresentationFormat>Произвольный</PresentationFormat>
  <Paragraphs>82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Noto Serif Display</vt:lpstr>
      <vt:lpstr>Roboto Bold</vt:lpstr>
      <vt:lpstr>PT Serif Bold</vt:lpstr>
      <vt:lpstr>PT Serif</vt:lpstr>
      <vt:lpstr>Arial</vt:lpstr>
      <vt:lpstr>Roboto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Привітання ...</dc:title>
  <dc:creator>АЛЁША</dc:creator>
  <cp:lastModifiedBy>АЛЁША</cp:lastModifiedBy>
  <cp:revision>2</cp:revision>
  <dcterms:created xsi:type="dcterms:W3CDTF">2006-08-16T00:00:00Z</dcterms:created>
  <dcterms:modified xsi:type="dcterms:W3CDTF">2025-12-03T19:31:43Z</dcterms:modified>
  <dc:identifier>DAG6eUV9IqM</dc:identifier>
</cp:coreProperties>
</file>